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3A"/>
        </a:solidFill>
      </p:bgPr>
    </p:bg>
    <p:spTree>
      <p:nvGrpSpPr>
        <p:cNvPr id="1" name=""/>
        <p:cNvGrpSpPr/>
        <p:nvPr/>
      </p:nvGrpSpPr>
      <p:grpSpPr>
        <a:xfrm>
          <a:off x="0" y="0"/>
          <a:ext cx="0" cy="0"/>
          <a:chOff x="0" y="0"/>
          <a:chExt cx="0" cy="0"/>
        </a:xfrm>
      </p:grpSpPr>
      <p:sp>
        <p:nvSpPr>
          <p:cNvPr id="2" name="Shape 0"/>
          <p:cNvSpPr/>
          <p:nvPr/>
        </p:nvSpPr>
        <p:spPr>
          <a:xfrm>
            <a:off x="9692640" y="-1280160"/>
            <a:ext cx="3840480" cy="3840480"/>
          </a:xfrm>
          <a:prstGeom prst="ellipse">
            <a:avLst/>
          </a:prstGeom>
          <a:solidFill>
            <a:srgbClr val="2E2E6E"/>
          </a:solidFill>
          <a:ln/>
        </p:spPr>
      </p:sp>
      <p:sp>
        <p:nvSpPr>
          <p:cNvPr id="3" name="Shape 1"/>
          <p:cNvSpPr/>
          <p:nvPr/>
        </p:nvSpPr>
        <p:spPr>
          <a:xfrm>
            <a:off x="10789920" y="4937760"/>
            <a:ext cx="2743200" cy="2743200"/>
          </a:xfrm>
          <a:prstGeom prst="ellipse">
            <a:avLst/>
          </a:prstGeom>
          <a:solidFill>
            <a:srgbClr val="6C5CE7">
              <a:alpha val="45000"/>
            </a:srgbClr>
          </a:solidFill>
          <a:ln/>
        </p:spPr>
      </p:sp>
      <p:sp>
        <p:nvSpPr>
          <p:cNvPr id="4" name="Text 2"/>
          <p:cNvSpPr txBox="1"/>
          <p:nvPr/>
        </p:nvSpPr>
        <p:spPr>
          <a:xfrm>
            <a:off x="731520" y="1965960"/>
            <a:ext cx="7315200" cy="365760"/>
          </a:xfrm>
          <a:prstGeom prst="rect">
            <a:avLst/>
          </a:prstGeom>
          <a:noFill/>
          <a:ln/>
        </p:spPr>
        <p:txBody>
          <a:bodyPr wrap="square" lIns="0" tIns="0" rIns="0" bIns="0" rtlCol="0" anchor="ctr"/>
          <a:lstStyle/>
          <a:p>
            <a:pPr indent="0" marL="0">
              <a:buNone/>
            </a:pPr>
            <a:r>
              <a:rPr lang="en-US" sz="1300" b="1" spc="300" kern="0" dirty="0">
                <a:solidFill>
                  <a:srgbClr val="FFC145"/>
                </a:solidFill>
                <a:latin typeface="Calibri" pitchFamily="34" charset="0"/>
                <a:ea typeface="Calibri" pitchFamily="34" charset="-122"/>
                <a:cs typeface="Calibri" pitchFamily="34" charset="-120"/>
              </a:rPr>
              <a:t>DATA ANALYTICS — INDIVIDUAL PROJECT</a:t>
            </a:r>
            <a:endParaRPr lang="en-US" sz="1300" dirty="0"/>
          </a:p>
        </p:txBody>
      </p:sp>
      <p:sp>
        <p:nvSpPr>
          <p:cNvPr id="5" name="Text 3"/>
          <p:cNvSpPr txBox="1"/>
          <p:nvPr/>
        </p:nvSpPr>
        <p:spPr>
          <a:xfrm>
            <a:off x="731520" y="2331720"/>
            <a:ext cx="9601200" cy="1188720"/>
          </a:xfrm>
          <a:prstGeom prst="rect">
            <a:avLst/>
          </a:prstGeom>
          <a:noFill/>
          <a:ln/>
        </p:spPr>
        <p:txBody>
          <a:bodyPr wrap="square" lIns="0" tIns="0" rIns="0" bIns="0" rtlCol="0" anchor="ctr"/>
          <a:lstStyle/>
          <a:p>
            <a:pPr indent="0" marL="0">
              <a:buNone/>
            </a:pPr>
            <a:r>
              <a:rPr lang="en-US" sz="4400" b="1" dirty="0">
                <a:solidFill>
                  <a:srgbClr val="F5F5FA"/>
                </a:solidFill>
                <a:latin typeface="Bookman Old Style" pitchFamily="34" charset="0"/>
                <a:ea typeface="Bookman Old Style" pitchFamily="34" charset="-122"/>
                <a:cs typeface="Bookman Old Style" pitchFamily="34" charset="-120"/>
              </a:rPr>
              <a:t>Video Game Sales Analysis</a:t>
            </a:r>
            <a:endParaRPr lang="en-US" sz="4400" dirty="0"/>
          </a:p>
        </p:txBody>
      </p:sp>
      <p:sp>
        <p:nvSpPr>
          <p:cNvPr id="6" name="Text 4"/>
          <p:cNvSpPr txBox="1"/>
          <p:nvPr/>
        </p:nvSpPr>
        <p:spPr>
          <a:xfrm>
            <a:off x="731520" y="3520440"/>
            <a:ext cx="7863840" cy="640080"/>
          </a:xfrm>
          <a:prstGeom prst="rect">
            <a:avLst/>
          </a:prstGeom>
          <a:noFill/>
          <a:ln/>
        </p:spPr>
        <p:txBody>
          <a:bodyPr wrap="square" lIns="0" tIns="0" rIns="0" bIns="0" rtlCol="0" anchor="ctr"/>
          <a:lstStyle/>
          <a:p>
            <a:pPr indent="0" marL="0">
              <a:buNone/>
            </a:pPr>
            <a:r>
              <a:rPr lang="en-US" sz="1500" i="1" dirty="0">
                <a:solidFill>
                  <a:srgbClr val="C9C9E8"/>
                </a:solidFill>
                <a:latin typeface="Calibri" pitchFamily="34" charset="0"/>
                <a:ea typeface="Calibri" pitchFamily="34" charset="-122"/>
                <a:cs typeface="Calibri" pitchFamily="34" charset="-120"/>
              </a:rPr>
              <a:t>Regional preferences, generational trends, critic-score impact, and publisher consistency in the global video game market</a:t>
            </a:r>
            <a:endParaRPr lang="en-US" sz="1500" dirty="0"/>
          </a:p>
        </p:txBody>
      </p:sp>
      <p:sp>
        <p:nvSpPr>
          <p:cNvPr id="7" name="Text 5"/>
          <p:cNvSpPr txBox="1"/>
          <p:nvPr/>
        </p:nvSpPr>
        <p:spPr>
          <a:xfrm>
            <a:off x="731520" y="5806440"/>
            <a:ext cx="8229600" cy="822960"/>
          </a:xfrm>
          <a:prstGeom prst="rect">
            <a:avLst/>
          </a:prstGeom>
          <a:noFill/>
          <a:ln/>
        </p:spPr>
        <p:txBody>
          <a:bodyPr wrap="square" lIns="0" tIns="0" rIns="0" bIns="0" rtlCol="0" anchor="ctr"/>
          <a:lstStyle/>
          <a:p>
            <a:pPr indent="0" marL="0">
              <a:lnSpc>
                <a:spcPct val="130000"/>
              </a:lnSpc>
              <a:buNone/>
            </a:pPr>
            <a:r>
              <a:rPr lang="en-US" sz="1250" b="1" dirty="0">
                <a:solidFill>
                  <a:srgbClr val="C9C9E8"/>
                </a:solidFill>
                <a:latin typeface="Calibri" pitchFamily="34" charset="0"/>
                <a:ea typeface="Calibri" pitchFamily="34" charset="-122"/>
                <a:cs typeface="Calibri" pitchFamily="34" charset="-120"/>
              </a:rPr>
              <a:t>Prashanth Pinniboyina</a:t>
            </a:r>
            <a:endParaRPr lang="en-US" sz="1250" dirty="0"/>
          </a:p>
          <a:p>
            <a:pPr indent="0" marL="0">
              <a:lnSpc>
                <a:spcPct val="130000"/>
              </a:lnSpc>
              <a:buNone/>
            </a:pPr>
            <a:r>
              <a:rPr lang="en-US" sz="1250" dirty="0">
                <a:solidFill>
                  <a:srgbClr val="C9C9E8"/>
                </a:solidFill>
                <a:latin typeface="Calibri" pitchFamily="34" charset="0"/>
                <a:ea typeface="Calibri" pitchFamily="34" charset="-122"/>
                <a:cs typeface="Calibri" pitchFamily="34" charset="-120"/>
              </a:rPr>
              <a:t>Student ID: 49834918</a:t>
            </a:r>
            <a:endParaRPr lang="en-US" sz="1250" dirty="0"/>
          </a:p>
          <a:p>
            <a:pPr indent="0" marL="0">
              <a:lnSpc>
                <a:spcPct val="130000"/>
              </a:lnSpc>
              <a:buNone/>
            </a:pPr>
            <a:r>
              <a:rPr lang="en-US" sz="1250" dirty="0">
                <a:solidFill>
                  <a:srgbClr val="C9C9E8"/>
                </a:solidFill>
                <a:latin typeface="Calibri" pitchFamily="34" charset="0"/>
                <a:ea typeface="Calibri" pitchFamily="34" charset="-122"/>
                <a:cs typeface="Calibri" pitchFamily="34" charset="-120"/>
              </a:rPr>
              <a:t>Dataset: Video Game Sales Dataset — Updated / Extra Feat (Kaggle)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A"/>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F4D6D"/>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1B1B3A"/>
                </a:solidFill>
                <a:latin typeface="Bookman Old Style" pitchFamily="34" charset="0"/>
                <a:ea typeface="Bookman Old Style" pitchFamily="34" charset="-122"/>
                <a:cs typeface="Bookman Old Style" pitchFamily="34" charset="-120"/>
              </a:rPr>
              <a:t>Why This Analysis Matters</a:t>
            </a:r>
            <a:endParaRPr lang="en-US" sz="3000" dirty="0"/>
          </a:p>
        </p:txBody>
      </p:sp>
      <p:sp>
        <p:nvSpPr>
          <p:cNvPr id="4" name="Shape 2"/>
          <p:cNvSpPr/>
          <p:nvPr/>
        </p:nvSpPr>
        <p:spPr>
          <a:xfrm>
            <a:off x="548640" y="1417320"/>
            <a:ext cx="5394960" cy="4709160"/>
          </a:xfrm>
          <a:prstGeom prst="roundRect">
            <a:avLst>
              <a:gd name="adj" fmla="val 2330"/>
            </a:avLst>
          </a:prstGeom>
          <a:solidFill>
            <a:srgbClr val="FFFFFF"/>
          </a:solidFill>
          <a:ln w="12700">
            <a:solidFill>
              <a:srgbClr val="E3E3F0"/>
            </a:solidFill>
            <a:prstDash val="solid"/>
          </a:ln>
          <a:effectLst>
            <a:outerShdw sx="100000" sy="100000" kx="0" ky="0" algn="bl" rotWithShape="0" blurRad="127000" dist="38100" dir="5400000">
              <a:srgbClr val="1B1B3A">
                <a:alpha val="12000"/>
              </a:srgbClr>
            </a:outerShdw>
          </a:effectLst>
        </p:spPr>
      </p:sp>
      <p:sp>
        <p:nvSpPr>
          <p:cNvPr id="5" name="Text 3"/>
          <p:cNvSpPr txBox="1"/>
          <p:nvPr/>
        </p:nvSpPr>
        <p:spPr>
          <a:xfrm>
            <a:off x="868680" y="1691640"/>
            <a:ext cx="4846320" cy="365760"/>
          </a:xfrm>
          <a:prstGeom prst="rect">
            <a:avLst/>
          </a:prstGeom>
          <a:noFill/>
          <a:ln/>
        </p:spPr>
        <p:txBody>
          <a:bodyPr wrap="square" lIns="0" tIns="0" rIns="0" bIns="0" rtlCol="0" anchor="ctr"/>
          <a:lstStyle/>
          <a:p>
            <a:pPr indent="0" marL="0">
              <a:buNone/>
            </a:pPr>
            <a:r>
              <a:rPr lang="en-US" sz="1700" b="1" dirty="0">
                <a:solidFill>
                  <a:srgbClr val="6C5CE7"/>
                </a:solidFill>
                <a:latin typeface="Bookman Old Style" pitchFamily="34" charset="0"/>
                <a:ea typeface="Bookman Old Style" pitchFamily="34" charset="-122"/>
                <a:cs typeface="Bookman Old Style" pitchFamily="34" charset="-120"/>
              </a:rPr>
              <a:t>Problem Statement</a:t>
            </a:r>
            <a:endParaRPr lang="en-US" sz="1700" dirty="0"/>
          </a:p>
        </p:txBody>
      </p:sp>
      <p:sp>
        <p:nvSpPr>
          <p:cNvPr id="6" name="Text 4"/>
          <p:cNvSpPr txBox="1"/>
          <p:nvPr/>
        </p:nvSpPr>
        <p:spPr>
          <a:xfrm>
            <a:off x="868680" y="2103120"/>
            <a:ext cx="4846320" cy="1920240"/>
          </a:xfrm>
          <a:prstGeom prst="rect">
            <a:avLst/>
          </a:prstGeom>
          <a:noFill/>
          <a:ln/>
        </p:spPr>
        <p:txBody>
          <a:bodyPr wrap="square" lIns="0" tIns="0" rIns="0" bIns="0" rtlCol="0" anchor="ctr"/>
          <a:lstStyle/>
          <a:p>
            <a:pPr indent="0" marL="0">
              <a:lnSpc>
                <a:spcPct val="125000"/>
              </a:lnSpc>
              <a:buNone/>
            </a:pPr>
            <a:r>
              <a:rPr lang="en-US" sz="1350" dirty="0">
                <a:solidFill>
                  <a:srgbClr val="1B1B3A"/>
                </a:solidFill>
                <a:latin typeface="Calibri" pitchFamily="34" charset="0"/>
                <a:ea typeface="Calibri" pitchFamily="34" charset="-122"/>
                <a:cs typeface="Calibri" pitchFamily="34" charset="-120"/>
              </a:rPr>
              <a:t>The video game industry spans many regions, platforms, and publishers, each with different consumer preferences and commercial dynamics. Publishers and developers often lack a clear, data-driven view of how regional tastes differ, how the market has evolved across console generations, whether critical acclaim actually translates into sales, and which publishers reliably produce hits versus those with occasional breakout success.</a:t>
            </a:r>
            <a:endParaRPr lang="en-US" sz="1350" dirty="0"/>
          </a:p>
        </p:txBody>
      </p:sp>
      <p:sp>
        <p:nvSpPr>
          <p:cNvPr id="7" name="Text 5"/>
          <p:cNvSpPr txBox="1"/>
          <p:nvPr/>
        </p:nvSpPr>
        <p:spPr>
          <a:xfrm>
            <a:off x="868680" y="4114800"/>
            <a:ext cx="4846320" cy="1737360"/>
          </a:xfrm>
          <a:prstGeom prst="rect">
            <a:avLst/>
          </a:prstGeom>
          <a:noFill/>
          <a:ln/>
        </p:spPr>
        <p:txBody>
          <a:bodyPr wrap="square" lIns="0" tIns="0" rIns="0" bIns="0" rtlCol="0" anchor="ctr"/>
          <a:lstStyle/>
          <a:p>
            <a:pPr indent="0" marL="0">
              <a:lnSpc>
                <a:spcPct val="125000"/>
              </a:lnSpc>
              <a:buNone/>
            </a:pPr>
            <a:r>
              <a:rPr lang="en-US" sz="1350" dirty="0">
                <a:solidFill>
                  <a:srgbClr val="1B1B3A"/>
                </a:solidFill>
                <a:latin typeface="Calibri" pitchFamily="34" charset="0"/>
                <a:ea typeface="Calibri" pitchFamily="34" charset="-122"/>
                <a:cs typeface="Calibri" pitchFamily="34" charset="-120"/>
              </a:rPr>
              <a:t>This project uses historical sales and review data to answer these questions with quantitative evidence — insights that can inform regional marketing strategy, platform investment, and publisher performance evaluation.</a:t>
            </a:r>
            <a:endParaRPr lang="en-US" sz="1350" dirty="0"/>
          </a:p>
        </p:txBody>
      </p:sp>
      <p:sp>
        <p:nvSpPr>
          <p:cNvPr id="8" name="Shape 6"/>
          <p:cNvSpPr/>
          <p:nvPr/>
        </p:nvSpPr>
        <p:spPr>
          <a:xfrm>
            <a:off x="6217920" y="1417320"/>
            <a:ext cx="5394960" cy="4709160"/>
          </a:xfrm>
          <a:prstGeom prst="roundRect">
            <a:avLst>
              <a:gd name="adj" fmla="val 2330"/>
            </a:avLst>
          </a:prstGeom>
          <a:solidFill>
            <a:srgbClr val="1B1B3A"/>
          </a:solidFill>
          <a:ln/>
        </p:spPr>
      </p:sp>
      <p:sp>
        <p:nvSpPr>
          <p:cNvPr id="9" name="Text 7"/>
          <p:cNvSpPr txBox="1"/>
          <p:nvPr/>
        </p:nvSpPr>
        <p:spPr>
          <a:xfrm>
            <a:off x="6537960" y="1691640"/>
            <a:ext cx="4846320" cy="365760"/>
          </a:xfrm>
          <a:prstGeom prst="rect">
            <a:avLst/>
          </a:prstGeom>
          <a:noFill/>
          <a:ln/>
        </p:spPr>
        <p:txBody>
          <a:bodyPr wrap="square" lIns="0" tIns="0" rIns="0" bIns="0" rtlCol="0" anchor="ctr"/>
          <a:lstStyle/>
          <a:p>
            <a:pPr indent="0" marL="0">
              <a:buNone/>
            </a:pPr>
            <a:r>
              <a:rPr lang="en-US" sz="1700" b="1" dirty="0">
                <a:solidFill>
                  <a:srgbClr val="FFC145"/>
                </a:solidFill>
                <a:latin typeface="Bookman Old Style" pitchFamily="34" charset="0"/>
                <a:ea typeface="Bookman Old Style" pitchFamily="34" charset="-122"/>
                <a:cs typeface="Bookman Old Style" pitchFamily="34" charset="-120"/>
              </a:rPr>
              <a:t>Dataset</a:t>
            </a:r>
            <a:endParaRPr lang="en-US" sz="1700" dirty="0"/>
          </a:p>
        </p:txBody>
      </p:sp>
      <p:sp>
        <p:nvSpPr>
          <p:cNvPr id="10" name="Text 8"/>
          <p:cNvSpPr txBox="1"/>
          <p:nvPr/>
        </p:nvSpPr>
        <p:spPr>
          <a:xfrm>
            <a:off x="6537960" y="2148840"/>
            <a:ext cx="4846320" cy="237744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F5F5FA"/>
                </a:solidFill>
                <a:latin typeface="Calibri" pitchFamily="34" charset="0"/>
                <a:ea typeface="Calibri" pitchFamily="34" charset="-122"/>
                <a:cs typeface="Calibri" pitchFamily="34" charset="-120"/>
              </a:rPr>
              <a:t>Video Game Sales Dataset — Updated / Extra Feat (Kaggle)</a:t>
            </a:r>
            <a:endParaRPr lang="en-US" sz="1350" dirty="0"/>
          </a:p>
          <a:p>
            <a:pPr marL="342900" indent="-342900">
              <a:spcAft>
                <a:spcPts val="1000"/>
              </a:spcAft>
              <a:buSzPct val="100000"/>
              <a:buChar char="▪"/>
            </a:pPr>
            <a:r>
              <a:rPr lang="en-US" sz="1350" dirty="0">
                <a:solidFill>
                  <a:srgbClr val="F5F5FA"/>
                </a:solidFill>
                <a:latin typeface="Calibri" pitchFamily="34" charset="0"/>
                <a:ea typeface="Calibri" pitchFamily="34" charset="-122"/>
                <a:cs typeface="Calibri" pitchFamily="34" charset="-120"/>
              </a:rPr>
              <a:t>Platform, genre, publisher &amp; regional sales figures</a:t>
            </a:r>
            <a:endParaRPr lang="en-US" sz="1350" dirty="0"/>
          </a:p>
          <a:p>
            <a:pPr marL="342900" indent="-342900">
              <a:spcAft>
                <a:spcPts val="1000"/>
              </a:spcAft>
              <a:buSzPct val="100000"/>
              <a:buChar char="▪"/>
            </a:pPr>
            <a:r>
              <a:rPr lang="en-US" sz="1350" dirty="0">
                <a:solidFill>
                  <a:srgbClr val="F5F5FA"/>
                </a:solidFill>
                <a:latin typeface="Calibri" pitchFamily="34" charset="0"/>
                <a:ea typeface="Calibri" pitchFamily="34" charset="-122"/>
                <a:cs typeface="Calibri" pitchFamily="34" charset="-120"/>
              </a:rPr>
              <a:t>Regions: North America, Europe, Japan, Other</a:t>
            </a:r>
            <a:endParaRPr lang="en-US" sz="1350" dirty="0"/>
          </a:p>
          <a:p>
            <a:pPr marL="342900" indent="-342900">
              <a:spcAft>
                <a:spcPts val="1000"/>
              </a:spcAft>
              <a:buSzPct val="100000"/>
              <a:buChar char="▪"/>
            </a:pPr>
            <a:r>
              <a:rPr lang="en-US" sz="1350" dirty="0">
                <a:solidFill>
                  <a:srgbClr val="F5F5FA"/>
                </a:solidFill>
                <a:latin typeface="Calibri" pitchFamily="34" charset="0"/>
                <a:ea typeface="Calibri" pitchFamily="34" charset="-122"/>
                <a:cs typeface="Calibri" pitchFamily="34" charset="-120"/>
              </a:rPr>
              <a:t>Critic and user review scores included</a:t>
            </a:r>
            <a:endParaRPr lang="en-US" sz="1350" dirty="0"/>
          </a:p>
          <a:p>
            <a:pPr marL="342900" indent="-342900">
              <a:spcAft>
                <a:spcPts val="1000"/>
              </a:spcAft>
              <a:buSzPct val="100000"/>
              <a:buChar char="▪"/>
            </a:pPr>
            <a:r>
              <a:rPr lang="en-US" sz="1350" dirty="0">
                <a:solidFill>
                  <a:srgbClr val="F5F5FA"/>
                </a:solidFill>
                <a:latin typeface="Calibri" pitchFamily="34" charset="0"/>
                <a:ea typeface="Calibri" pitchFamily="34" charset="-122"/>
                <a:cs typeface="Calibri" pitchFamily="34" charset="-120"/>
              </a:rPr>
              <a:t>Format: CSV, analyzed in Python (pandas, seaborn)</a:t>
            </a:r>
            <a:endParaRPr lang="en-US" sz="1350" dirty="0"/>
          </a:p>
        </p:txBody>
      </p:sp>
      <p:sp>
        <p:nvSpPr>
          <p:cNvPr id="11" name="Shape 9"/>
          <p:cNvSpPr/>
          <p:nvPr/>
        </p:nvSpPr>
        <p:spPr>
          <a:xfrm>
            <a:off x="6537960" y="4709160"/>
            <a:ext cx="4754880" cy="1188720"/>
          </a:xfrm>
          <a:prstGeom prst="roundRect">
            <a:avLst>
              <a:gd name="adj" fmla="val 7692"/>
            </a:avLst>
          </a:prstGeom>
          <a:solidFill>
            <a:srgbClr val="2E2E6E"/>
          </a:solidFill>
          <a:ln/>
        </p:spPr>
      </p:sp>
      <p:sp>
        <p:nvSpPr>
          <p:cNvPr id="12" name="Text 10"/>
          <p:cNvSpPr txBox="1"/>
          <p:nvPr/>
        </p:nvSpPr>
        <p:spPr>
          <a:xfrm>
            <a:off x="6766560" y="4892040"/>
            <a:ext cx="4297680" cy="822960"/>
          </a:xfrm>
          <a:prstGeom prst="rect">
            <a:avLst/>
          </a:prstGeom>
          <a:noFill/>
          <a:ln/>
        </p:spPr>
        <p:txBody>
          <a:bodyPr wrap="square" lIns="0" tIns="0" rIns="0" bIns="0" rtlCol="0" anchor="ctr"/>
          <a:lstStyle/>
          <a:p>
            <a:pPr indent="0" marL="0">
              <a:lnSpc>
                <a:spcPct val="130000"/>
              </a:lnSpc>
              <a:buNone/>
            </a:pPr>
            <a:r>
              <a:rPr lang="en-US" sz="1150" b="1" dirty="0">
                <a:solidFill>
                  <a:srgbClr val="FFC145"/>
                </a:solidFill>
                <a:latin typeface="Calibri" pitchFamily="34" charset="0"/>
                <a:ea typeface="Calibri" pitchFamily="34" charset="-122"/>
                <a:cs typeface="Calibri" pitchFamily="34" charset="-120"/>
              </a:rPr>
              <a:t>Repository: </a:t>
            </a:r>
            <a:pPr indent="0" marL="0">
              <a:lnSpc>
                <a:spcPct val="130000"/>
              </a:lnSpc>
              <a:buNone/>
            </a:pPr>
            <a:r>
              <a:rPr lang="en-US" sz="1150" dirty="0">
                <a:solidFill>
                  <a:srgbClr val="F5F5FA"/>
                </a:solidFill>
                <a:latin typeface="Calibri" pitchFamily="34" charset="0"/>
                <a:ea typeface="Calibri" pitchFamily="34" charset="-122"/>
                <a:cs typeface="Calibri" pitchFamily="34" charset="-120"/>
              </a:rPr>
              <a:t>github.com/PrashanthPinniboyina/49834918_DS-120B</a:t>
            </a:r>
            <a:endParaRPr lang="en-US" sz="1150" dirty="0"/>
          </a:p>
        </p:txBody>
      </p:sp>
      <p:sp>
        <p:nvSpPr>
          <p:cNvPr id="13" name="Text 11"/>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B6B8D"/>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A"/>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F4D6D"/>
                </a:solidFill>
                <a:latin typeface="Calibri" pitchFamily="34" charset="0"/>
                <a:ea typeface="Calibri" pitchFamily="34" charset="-122"/>
                <a:cs typeface="Calibri" pitchFamily="34" charset="-120"/>
              </a:rPr>
              <a:t>APPROACH</a:t>
            </a:r>
            <a:endParaRPr lang="en-US" sz="120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1B1B3A"/>
                </a:solidFill>
                <a:latin typeface="Bookman Old Style" pitchFamily="34" charset="0"/>
                <a:ea typeface="Bookman Old Style" pitchFamily="34" charset="-122"/>
                <a:cs typeface="Bookman Old Style" pitchFamily="34" charset="-120"/>
              </a:rPr>
              <a:t>Methodology</a:t>
            </a:r>
            <a:endParaRPr lang="en-US" sz="3000" dirty="0"/>
          </a:p>
        </p:txBody>
      </p:sp>
      <p:sp>
        <p:nvSpPr>
          <p:cNvPr id="4" name="Shape 2"/>
          <p:cNvSpPr/>
          <p:nvPr/>
        </p:nvSpPr>
        <p:spPr>
          <a:xfrm>
            <a:off x="548640" y="1600200"/>
            <a:ext cx="3611880" cy="2103120"/>
          </a:xfrm>
          <a:prstGeom prst="roundRect">
            <a:avLst>
              <a:gd name="adj" fmla="val 5217"/>
            </a:avLst>
          </a:prstGeom>
          <a:solidFill>
            <a:srgbClr val="FFFFFF"/>
          </a:solidFill>
          <a:ln w="12700">
            <a:solidFill>
              <a:srgbClr val="E3E3F0"/>
            </a:solidFill>
            <a:prstDash val="solid"/>
          </a:ln>
          <a:effectLst>
            <a:outerShdw sx="100000" sy="100000" kx="0" ky="0" algn="bl" rotWithShape="0" blurRad="101600" dist="25400" dir="5400000">
              <a:srgbClr val="1B1B3A">
                <a:alpha val="10000"/>
              </a:srgbClr>
            </a:outerShdw>
          </a:effectLst>
        </p:spPr>
      </p:sp>
      <p:sp>
        <p:nvSpPr>
          <p:cNvPr id="5" name="Shape 3"/>
          <p:cNvSpPr/>
          <p:nvPr/>
        </p:nvSpPr>
        <p:spPr>
          <a:xfrm>
            <a:off x="777240" y="1828800"/>
            <a:ext cx="548640" cy="548640"/>
          </a:xfrm>
          <a:prstGeom prst="ellipse">
            <a:avLst/>
          </a:prstGeom>
          <a:solidFill>
            <a:srgbClr val="6C5CE7"/>
          </a:solidFill>
          <a:ln/>
        </p:spPr>
      </p:sp>
      <p:sp>
        <p:nvSpPr>
          <p:cNvPr id="6"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1600" b="1" dirty="0">
                <a:solidFill>
                  <a:srgbClr val="F5F5FA"/>
                </a:solidFill>
                <a:latin typeface="Bookman Old Style" pitchFamily="34" charset="0"/>
                <a:ea typeface="Bookman Old Style" pitchFamily="34" charset="-122"/>
                <a:cs typeface="Bookman Old Style" pitchFamily="34" charset="-120"/>
              </a:rPr>
              <a:t>01</a:t>
            </a:r>
            <a:endParaRPr lang="en-US" sz="1600" dirty="0"/>
          </a:p>
        </p:txBody>
      </p:sp>
      <p:sp>
        <p:nvSpPr>
          <p:cNvPr id="7" name="Text 5"/>
          <p:cNvSpPr txBox="1"/>
          <p:nvPr/>
        </p:nvSpPr>
        <p:spPr>
          <a:xfrm>
            <a:off x="777240" y="2514600"/>
            <a:ext cx="3154680" cy="365760"/>
          </a:xfrm>
          <a:prstGeom prst="rect">
            <a:avLst/>
          </a:prstGeom>
          <a:noFill/>
          <a:ln/>
        </p:spPr>
        <p:txBody>
          <a:bodyPr wrap="square" lIns="0" tIns="0" rIns="0" bIns="0" rtlCol="0" anchor="ctr"/>
          <a:lstStyle/>
          <a:p>
            <a:pPr indent="0" marL="0">
              <a:buNone/>
            </a:pPr>
            <a:r>
              <a:rPr lang="en-US" sz="1450" b="1" dirty="0">
                <a:solidFill>
                  <a:srgbClr val="1B1B3A"/>
                </a:solidFill>
                <a:latin typeface="Bookman Old Style" pitchFamily="34" charset="0"/>
                <a:ea typeface="Bookman Old Style" pitchFamily="34" charset="-122"/>
                <a:cs typeface="Bookman Old Style" pitchFamily="34" charset="-120"/>
              </a:rPr>
              <a:t>Data Collection</a:t>
            </a:r>
            <a:endParaRPr lang="en-US" sz="1450" dirty="0"/>
          </a:p>
        </p:txBody>
      </p:sp>
      <p:sp>
        <p:nvSpPr>
          <p:cNvPr id="8" name="Text 6"/>
          <p:cNvSpPr txBox="1"/>
          <p:nvPr/>
        </p:nvSpPr>
        <p:spPr>
          <a:xfrm>
            <a:off x="777240" y="2880360"/>
            <a:ext cx="3154680" cy="777240"/>
          </a:xfrm>
          <a:prstGeom prst="rect">
            <a:avLst/>
          </a:prstGeom>
          <a:noFill/>
          <a:ln/>
        </p:spPr>
        <p:txBody>
          <a:bodyPr wrap="square" lIns="0" tIns="0" rIns="0" bIns="0" rtlCol="0" anchor="ctr"/>
          <a:lstStyle/>
          <a:p>
            <a:pPr indent="0" marL="0">
              <a:lnSpc>
                <a:spcPct val="120000"/>
              </a:lnSpc>
              <a:buNone/>
            </a:pPr>
            <a:r>
              <a:rPr lang="en-US" sz="1150" dirty="0">
                <a:solidFill>
                  <a:srgbClr val="6B6B8D"/>
                </a:solidFill>
                <a:latin typeface="Calibri" pitchFamily="34" charset="0"/>
                <a:ea typeface="Calibri" pitchFamily="34" charset="-122"/>
                <a:cs typeface="Calibri" pitchFamily="34" charset="-120"/>
              </a:rPr>
              <a:t>Obtain the dataset from Kaggle in CSV format.</a:t>
            </a:r>
            <a:endParaRPr lang="en-US" sz="1150" dirty="0"/>
          </a:p>
        </p:txBody>
      </p:sp>
      <p:sp>
        <p:nvSpPr>
          <p:cNvPr id="9" name="Shape 7"/>
          <p:cNvSpPr/>
          <p:nvPr/>
        </p:nvSpPr>
        <p:spPr>
          <a:xfrm>
            <a:off x="4434840" y="1600200"/>
            <a:ext cx="3611880" cy="2103120"/>
          </a:xfrm>
          <a:prstGeom prst="roundRect">
            <a:avLst>
              <a:gd name="adj" fmla="val 5217"/>
            </a:avLst>
          </a:prstGeom>
          <a:solidFill>
            <a:srgbClr val="FFFFFF"/>
          </a:solidFill>
          <a:ln w="12700">
            <a:solidFill>
              <a:srgbClr val="E3E3F0"/>
            </a:solidFill>
            <a:prstDash val="solid"/>
          </a:ln>
          <a:effectLst>
            <a:outerShdw sx="100000" sy="100000" kx="0" ky="0" algn="bl" rotWithShape="0" blurRad="101600" dist="25400" dir="5400000">
              <a:srgbClr val="1B1B3A">
                <a:alpha val="10000"/>
              </a:srgbClr>
            </a:outerShdw>
          </a:effectLst>
        </p:spPr>
      </p:sp>
      <p:sp>
        <p:nvSpPr>
          <p:cNvPr id="10" name="Shape 8"/>
          <p:cNvSpPr/>
          <p:nvPr/>
        </p:nvSpPr>
        <p:spPr>
          <a:xfrm>
            <a:off x="4663440" y="1828800"/>
            <a:ext cx="548640" cy="548640"/>
          </a:xfrm>
          <a:prstGeom prst="ellipse">
            <a:avLst/>
          </a:prstGeom>
          <a:solidFill>
            <a:srgbClr val="FF4D6D"/>
          </a:solidFill>
          <a:ln/>
        </p:spPr>
      </p:sp>
      <p:sp>
        <p:nvSpPr>
          <p:cNvPr id="11" name="Text 9"/>
          <p:cNvSpPr txBox="1"/>
          <p:nvPr/>
        </p:nvSpPr>
        <p:spPr>
          <a:xfrm>
            <a:off x="4663440" y="1828800"/>
            <a:ext cx="548640" cy="548640"/>
          </a:xfrm>
          <a:prstGeom prst="rect">
            <a:avLst/>
          </a:prstGeom>
          <a:noFill/>
          <a:ln/>
        </p:spPr>
        <p:txBody>
          <a:bodyPr wrap="square" lIns="0" tIns="0" rIns="0" bIns="0" rtlCol="0" anchor="ctr"/>
          <a:lstStyle/>
          <a:p>
            <a:pPr algn="ctr" indent="0" marL="0">
              <a:buNone/>
            </a:pPr>
            <a:r>
              <a:rPr lang="en-US" sz="1600" b="1" dirty="0">
                <a:solidFill>
                  <a:srgbClr val="F5F5FA"/>
                </a:solidFill>
                <a:latin typeface="Bookman Old Style" pitchFamily="34" charset="0"/>
                <a:ea typeface="Bookman Old Style" pitchFamily="34" charset="-122"/>
                <a:cs typeface="Bookman Old Style" pitchFamily="34" charset="-120"/>
              </a:rPr>
              <a:t>02</a:t>
            </a:r>
            <a:endParaRPr lang="en-US" sz="1600" dirty="0"/>
          </a:p>
        </p:txBody>
      </p:sp>
      <p:sp>
        <p:nvSpPr>
          <p:cNvPr id="12" name="Text 10"/>
          <p:cNvSpPr txBox="1"/>
          <p:nvPr/>
        </p:nvSpPr>
        <p:spPr>
          <a:xfrm>
            <a:off x="4663440" y="2514600"/>
            <a:ext cx="3154680" cy="365760"/>
          </a:xfrm>
          <a:prstGeom prst="rect">
            <a:avLst/>
          </a:prstGeom>
          <a:noFill/>
          <a:ln/>
        </p:spPr>
        <p:txBody>
          <a:bodyPr wrap="square" lIns="0" tIns="0" rIns="0" bIns="0" rtlCol="0" anchor="ctr"/>
          <a:lstStyle/>
          <a:p>
            <a:pPr indent="0" marL="0">
              <a:buNone/>
            </a:pPr>
            <a:r>
              <a:rPr lang="en-US" sz="1450" b="1" dirty="0">
                <a:solidFill>
                  <a:srgbClr val="1B1B3A"/>
                </a:solidFill>
                <a:latin typeface="Bookman Old Style" pitchFamily="34" charset="0"/>
                <a:ea typeface="Bookman Old Style" pitchFamily="34" charset="-122"/>
                <a:cs typeface="Bookman Old Style" pitchFamily="34" charset="-120"/>
              </a:rPr>
              <a:t>Data Cleaning</a:t>
            </a:r>
            <a:endParaRPr lang="en-US" sz="1450" dirty="0"/>
          </a:p>
        </p:txBody>
      </p:sp>
      <p:sp>
        <p:nvSpPr>
          <p:cNvPr id="13" name="Text 11"/>
          <p:cNvSpPr txBox="1"/>
          <p:nvPr/>
        </p:nvSpPr>
        <p:spPr>
          <a:xfrm>
            <a:off x="4663440" y="2880360"/>
            <a:ext cx="3154680" cy="777240"/>
          </a:xfrm>
          <a:prstGeom prst="rect">
            <a:avLst/>
          </a:prstGeom>
          <a:noFill/>
          <a:ln/>
        </p:spPr>
        <p:txBody>
          <a:bodyPr wrap="square" lIns="0" tIns="0" rIns="0" bIns="0" rtlCol="0" anchor="ctr"/>
          <a:lstStyle/>
          <a:p>
            <a:pPr indent="0" marL="0">
              <a:lnSpc>
                <a:spcPct val="120000"/>
              </a:lnSpc>
              <a:buNone/>
            </a:pPr>
            <a:r>
              <a:rPr lang="en-US" sz="1150" dirty="0">
                <a:solidFill>
                  <a:srgbClr val="6B6B8D"/>
                </a:solidFill>
                <a:latin typeface="Calibri" pitchFamily="34" charset="0"/>
                <a:ea typeface="Calibri" pitchFamily="34" charset="-122"/>
                <a:cs typeface="Calibri" pitchFamily="34" charset="-120"/>
              </a:rPr>
              <a:t>Handle missing Critic/User scores, remove duplicates, standardize labels.</a:t>
            </a:r>
            <a:endParaRPr lang="en-US" sz="1150" dirty="0"/>
          </a:p>
        </p:txBody>
      </p:sp>
      <p:sp>
        <p:nvSpPr>
          <p:cNvPr id="14" name="Shape 12"/>
          <p:cNvSpPr/>
          <p:nvPr/>
        </p:nvSpPr>
        <p:spPr>
          <a:xfrm>
            <a:off x="8321040" y="1600200"/>
            <a:ext cx="3611880" cy="2103120"/>
          </a:xfrm>
          <a:prstGeom prst="roundRect">
            <a:avLst>
              <a:gd name="adj" fmla="val 5217"/>
            </a:avLst>
          </a:prstGeom>
          <a:solidFill>
            <a:srgbClr val="FFFFFF"/>
          </a:solidFill>
          <a:ln w="12700">
            <a:solidFill>
              <a:srgbClr val="E3E3F0"/>
            </a:solidFill>
            <a:prstDash val="solid"/>
          </a:ln>
          <a:effectLst>
            <a:outerShdw sx="100000" sy="100000" kx="0" ky="0" algn="bl" rotWithShape="0" blurRad="101600" dist="25400" dir="5400000">
              <a:srgbClr val="1B1B3A">
                <a:alpha val="10000"/>
              </a:srgbClr>
            </a:outerShdw>
          </a:effectLst>
        </p:spPr>
      </p:sp>
      <p:sp>
        <p:nvSpPr>
          <p:cNvPr id="15" name="Shape 13"/>
          <p:cNvSpPr/>
          <p:nvPr/>
        </p:nvSpPr>
        <p:spPr>
          <a:xfrm>
            <a:off x="8549640" y="1828800"/>
            <a:ext cx="548640" cy="548640"/>
          </a:xfrm>
          <a:prstGeom prst="ellipse">
            <a:avLst/>
          </a:prstGeom>
          <a:solidFill>
            <a:srgbClr val="6C5CE7"/>
          </a:solidFill>
          <a:ln/>
        </p:spPr>
      </p:sp>
      <p:sp>
        <p:nvSpPr>
          <p:cNvPr id="16" name="Text 14"/>
          <p:cNvSpPr txBox="1"/>
          <p:nvPr/>
        </p:nvSpPr>
        <p:spPr>
          <a:xfrm>
            <a:off x="8549640" y="1828800"/>
            <a:ext cx="548640" cy="548640"/>
          </a:xfrm>
          <a:prstGeom prst="rect">
            <a:avLst/>
          </a:prstGeom>
          <a:noFill/>
          <a:ln/>
        </p:spPr>
        <p:txBody>
          <a:bodyPr wrap="square" lIns="0" tIns="0" rIns="0" bIns="0" rtlCol="0" anchor="ctr"/>
          <a:lstStyle/>
          <a:p>
            <a:pPr algn="ctr" indent="0" marL="0">
              <a:buNone/>
            </a:pPr>
            <a:r>
              <a:rPr lang="en-US" sz="1600" b="1" dirty="0">
                <a:solidFill>
                  <a:srgbClr val="F5F5FA"/>
                </a:solidFill>
                <a:latin typeface="Bookman Old Style" pitchFamily="34" charset="0"/>
                <a:ea typeface="Bookman Old Style" pitchFamily="34" charset="-122"/>
                <a:cs typeface="Bookman Old Style" pitchFamily="34" charset="-120"/>
              </a:rPr>
              <a:t>03</a:t>
            </a:r>
            <a:endParaRPr lang="en-US" sz="1600" dirty="0"/>
          </a:p>
        </p:txBody>
      </p:sp>
      <p:sp>
        <p:nvSpPr>
          <p:cNvPr id="17" name="Text 15"/>
          <p:cNvSpPr txBox="1"/>
          <p:nvPr/>
        </p:nvSpPr>
        <p:spPr>
          <a:xfrm>
            <a:off x="8549640" y="2514600"/>
            <a:ext cx="3154680" cy="365760"/>
          </a:xfrm>
          <a:prstGeom prst="rect">
            <a:avLst/>
          </a:prstGeom>
          <a:noFill/>
          <a:ln/>
        </p:spPr>
        <p:txBody>
          <a:bodyPr wrap="square" lIns="0" tIns="0" rIns="0" bIns="0" rtlCol="0" anchor="ctr"/>
          <a:lstStyle/>
          <a:p>
            <a:pPr indent="0" marL="0">
              <a:buNone/>
            </a:pPr>
            <a:r>
              <a:rPr lang="en-US" sz="1450" b="1" dirty="0">
                <a:solidFill>
                  <a:srgbClr val="1B1B3A"/>
                </a:solidFill>
                <a:latin typeface="Bookman Old Style" pitchFamily="34" charset="0"/>
                <a:ea typeface="Bookman Old Style" pitchFamily="34" charset="-122"/>
                <a:cs typeface="Bookman Old Style" pitchFamily="34" charset="-120"/>
              </a:rPr>
              <a:t>Transformation</a:t>
            </a:r>
            <a:endParaRPr lang="en-US" sz="1450" dirty="0"/>
          </a:p>
        </p:txBody>
      </p:sp>
      <p:sp>
        <p:nvSpPr>
          <p:cNvPr id="18" name="Text 16"/>
          <p:cNvSpPr txBox="1"/>
          <p:nvPr/>
        </p:nvSpPr>
        <p:spPr>
          <a:xfrm>
            <a:off x="8549640" y="2880360"/>
            <a:ext cx="3154680" cy="777240"/>
          </a:xfrm>
          <a:prstGeom prst="rect">
            <a:avLst/>
          </a:prstGeom>
          <a:noFill/>
          <a:ln/>
        </p:spPr>
        <p:txBody>
          <a:bodyPr wrap="square" lIns="0" tIns="0" rIns="0" bIns="0" rtlCol="0" anchor="ctr"/>
          <a:lstStyle/>
          <a:p>
            <a:pPr indent="0" marL="0">
              <a:lnSpc>
                <a:spcPct val="120000"/>
              </a:lnSpc>
              <a:buNone/>
            </a:pPr>
            <a:r>
              <a:rPr lang="en-US" sz="1150" dirty="0">
                <a:solidFill>
                  <a:srgbClr val="6B6B8D"/>
                </a:solidFill>
                <a:latin typeface="Calibri" pitchFamily="34" charset="0"/>
                <a:ea typeface="Calibri" pitchFamily="34" charset="-122"/>
                <a:cs typeface="Calibri" pitchFamily="34" charset="-120"/>
              </a:rPr>
              <a:t>Map platforms to console generations; compute normalized regional shares.</a:t>
            </a:r>
            <a:endParaRPr lang="en-US" sz="1150" dirty="0"/>
          </a:p>
        </p:txBody>
      </p:sp>
      <p:sp>
        <p:nvSpPr>
          <p:cNvPr id="19" name="Shape 17"/>
          <p:cNvSpPr/>
          <p:nvPr/>
        </p:nvSpPr>
        <p:spPr>
          <a:xfrm>
            <a:off x="548640" y="4023360"/>
            <a:ext cx="3611880" cy="2103120"/>
          </a:xfrm>
          <a:prstGeom prst="roundRect">
            <a:avLst>
              <a:gd name="adj" fmla="val 5217"/>
            </a:avLst>
          </a:prstGeom>
          <a:solidFill>
            <a:srgbClr val="FFFFFF"/>
          </a:solidFill>
          <a:ln w="12700">
            <a:solidFill>
              <a:srgbClr val="E3E3F0"/>
            </a:solidFill>
            <a:prstDash val="solid"/>
          </a:ln>
          <a:effectLst>
            <a:outerShdw sx="100000" sy="100000" kx="0" ky="0" algn="bl" rotWithShape="0" blurRad="101600" dist="25400" dir="5400000">
              <a:srgbClr val="1B1B3A">
                <a:alpha val="10000"/>
              </a:srgbClr>
            </a:outerShdw>
          </a:effectLst>
        </p:spPr>
      </p:sp>
      <p:sp>
        <p:nvSpPr>
          <p:cNvPr id="20" name="Shape 18"/>
          <p:cNvSpPr/>
          <p:nvPr/>
        </p:nvSpPr>
        <p:spPr>
          <a:xfrm>
            <a:off x="777240" y="4251960"/>
            <a:ext cx="548640" cy="548640"/>
          </a:xfrm>
          <a:prstGeom prst="ellipse">
            <a:avLst/>
          </a:prstGeom>
          <a:solidFill>
            <a:srgbClr val="FF4D6D"/>
          </a:solidFill>
          <a:ln/>
        </p:spPr>
      </p:sp>
      <p:sp>
        <p:nvSpPr>
          <p:cNvPr id="21" name="Text 19"/>
          <p:cNvSpPr txBox="1"/>
          <p:nvPr/>
        </p:nvSpPr>
        <p:spPr>
          <a:xfrm>
            <a:off x="777240" y="4251960"/>
            <a:ext cx="548640" cy="548640"/>
          </a:xfrm>
          <a:prstGeom prst="rect">
            <a:avLst/>
          </a:prstGeom>
          <a:noFill/>
          <a:ln/>
        </p:spPr>
        <p:txBody>
          <a:bodyPr wrap="square" lIns="0" tIns="0" rIns="0" bIns="0" rtlCol="0" anchor="ctr"/>
          <a:lstStyle/>
          <a:p>
            <a:pPr algn="ctr" indent="0" marL="0">
              <a:buNone/>
            </a:pPr>
            <a:r>
              <a:rPr lang="en-US" sz="1600" b="1" dirty="0">
                <a:solidFill>
                  <a:srgbClr val="F5F5FA"/>
                </a:solidFill>
                <a:latin typeface="Bookman Old Style" pitchFamily="34" charset="0"/>
                <a:ea typeface="Bookman Old Style" pitchFamily="34" charset="-122"/>
                <a:cs typeface="Bookman Old Style" pitchFamily="34" charset="-120"/>
              </a:rPr>
              <a:t>04</a:t>
            </a:r>
            <a:endParaRPr lang="en-US" sz="1600" dirty="0"/>
          </a:p>
        </p:txBody>
      </p:sp>
      <p:sp>
        <p:nvSpPr>
          <p:cNvPr id="22" name="Text 20"/>
          <p:cNvSpPr txBox="1"/>
          <p:nvPr/>
        </p:nvSpPr>
        <p:spPr>
          <a:xfrm>
            <a:off x="777240" y="4937760"/>
            <a:ext cx="3154680" cy="365760"/>
          </a:xfrm>
          <a:prstGeom prst="rect">
            <a:avLst/>
          </a:prstGeom>
          <a:noFill/>
          <a:ln/>
        </p:spPr>
        <p:txBody>
          <a:bodyPr wrap="square" lIns="0" tIns="0" rIns="0" bIns="0" rtlCol="0" anchor="ctr"/>
          <a:lstStyle/>
          <a:p>
            <a:pPr indent="0" marL="0">
              <a:buNone/>
            </a:pPr>
            <a:r>
              <a:rPr lang="en-US" sz="1450" b="1" dirty="0">
                <a:solidFill>
                  <a:srgbClr val="1B1B3A"/>
                </a:solidFill>
                <a:latin typeface="Bookman Old Style" pitchFamily="34" charset="0"/>
                <a:ea typeface="Bookman Old Style" pitchFamily="34" charset="-122"/>
                <a:cs typeface="Bookman Old Style" pitchFamily="34" charset="-120"/>
              </a:rPr>
              <a:t>Exploratory Analysis</a:t>
            </a:r>
            <a:endParaRPr lang="en-US" sz="1450" dirty="0"/>
          </a:p>
        </p:txBody>
      </p:sp>
      <p:sp>
        <p:nvSpPr>
          <p:cNvPr id="23" name="Text 21"/>
          <p:cNvSpPr txBox="1"/>
          <p:nvPr/>
        </p:nvSpPr>
        <p:spPr>
          <a:xfrm>
            <a:off x="777240" y="5303520"/>
            <a:ext cx="3154680" cy="777240"/>
          </a:xfrm>
          <a:prstGeom prst="rect">
            <a:avLst/>
          </a:prstGeom>
          <a:noFill/>
          <a:ln/>
        </p:spPr>
        <p:txBody>
          <a:bodyPr wrap="square" lIns="0" tIns="0" rIns="0" bIns="0" rtlCol="0" anchor="ctr"/>
          <a:lstStyle/>
          <a:p>
            <a:pPr indent="0" marL="0">
              <a:lnSpc>
                <a:spcPct val="120000"/>
              </a:lnSpc>
              <a:buNone/>
            </a:pPr>
            <a:r>
              <a:rPr lang="en-US" sz="1150" dirty="0">
                <a:solidFill>
                  <a:srgbClr val="6B6B8D"/>
                </a:solidFill>
                <a:latin typeface="Calibri" pitchFamily="34" charset="0"/>
                <a:ea typeface="Calibri" pitchFamily="34" charset="-122"/>
                <a:cs typeface="Calibri" pitchFamily="34" charset="-120"/>
              </a:rPr>
              <a:t>Aggregate, group, and correlate to answer each business question.</a:t>
            </a:r>
            <a:endParaRPr lang="en-US" sz="1150" dirty="0"/>
          </a:p>
        </p:txBody>
      </p:sp>
      <p:sp>
        <p:nvSpPr>
          <p:cNvPr id="24" name="Shape 22"/>
          <p:cNvSpPr/>
          <p:nvPr/>
        </p:nvSpPr>
        <p:spPr>
          <a:xfrm>
            <a:off x="4434840" y="4023360"/>
            <a:ext cx="3611880" cy="2103120"/>
          </a:xfrm>
          <a:prstGeom prst="roundRect">
            <a:avLst>
              <a:gd name="adj" fmla="val 5217"/>
            </a:avLst>
          </a:prstGeom>
          <a:solidFill>
            <a:srgbClr val="FFFFFF"/>
          </a:solidFill>
          <a:ln w="12700">
            <a:solidFill>
              <a:srgbClr val="E3E3F0"/>
            </a:solidFill>
            <a:prstDash val="solid"/>
          </a:ln>
          <a:effectLst>
            <a:outerShdw sx="100000" sy="100000" kx="0" ky="0" algn="bl" rotWithShape="0" blurRad="101600" dist="25400" dir="5400000">
              <a:srgbClr val="1B1B3A">
                <a:alpha val="10000"/>
              </a:srgbClr>
            </a:outerShdw>
          </a:effectLst>
        </p:spPr>
      </p:sp>
      <p:sp>
        <p:nvSpPr>
          <p:cNvPr id="25" name="Shape 23"/>
          <p:cNvSpPr/>
          <p:nvPr/>
        </p:nvSpPr>
        <p:spPr>
          <a:xfrm>
            <a:off x="4663440" y="4251960"/>
            <a:ext cx="548640" cy="548640"/>
          </a:xfrm>
          <a:prstGeom prst="ellipse">
            <a:avLst/>
          </a:prstGeom>
          <a:solidFill>
            <a:srgbClr val="6C5CE7"/>
          </a:solidFill>
          <a:ln/>
        </p:spPr>
      </p:sp>
      <p:sp>
        <p:nvSpPr>
          <p:cNvPr id="26" name="Text 24"/>
          <p:cNvSpPr txBox="1"/>
          <p:nvPr/>
        </p:nvSpPr>
        <p:spPr>
          <a:xfrm>
            <a:off x="4663440" y="4251960"/>
            <a:ext cx="548640" cy="548640"/>
          </a:xfrm>
          <a:prstGeom prst="rect">
            <a:avLst/>
          </a:prstGeom>
          <a:noFill/>
          <a:ln/>
        </p:spPr>
        <p:txBody>
          <a:bodyPr wrap="square" lIns="0" tIns="0" rIns="0" bIns="0" rtlCol="0" anchor="ctr"/>
          <a:lstStyle/>
          <a:p>
            <a:pPr algn="ctr" indent="0" marL="0">
              <a:buNone/>
            </a:pPr>
            <a:r>
              <a:rPr lang="en-US" sz="1600" b="1" dirty="0">
                <a:solidFill>
                  <a:srgbClr val="F5F5FA"/>
                </a:solidFill>
                <a:latin typeface="Bookman Old Style" pitchFamily="34" charset="0"/>
                <a:ea typeface="Bookman Old Style" pitchFamily="34" charset="-122"/>
                <a:cs typeface="Bookman Old Style" pitchFamily="34" charset="-120"/>
              </a:rPr>
              <a:t>05</a:t>
            </a:r>
            <a:endParaRPr lang="en-US" sz="1600" dirty="0"/>
          </a:p>
        </p:txBody>
      </p:sp>
      <p:sp>
        <p:nvSpPr>
          <p:cNvPr id="27" name="Text 25"/>
          <p:cNvSpPr txBox="1"/>
          <p:nvPr/>
        </p:nvSpPr>
        <p:spPr>
          <a:xfrm>
            <a:off x="4663440" y="4937760"/>
            <a:ext cx="3154680" cy="365760"/>
          </a:xfrm>
          <a:prstGeom prst="rect">
            <a:avLst/>
          </a:prstGeom>
          <a:noFill/>
          <a:ln/>
        </p:spPr>
        <p:txBody>
          <a:bodyPr wrap="square" lIns="0" tIns="0" rIns="0" bIns="0" rtlCol="0" anchor="ctr"/>
          <a:lstStyle/>
          <a:p>
            <a:pPr indent="0" marL="0">
              <a:buNone/>
            </a:pPr>
            <a:r>
              <a:rPr lang="en-US" sz="1450" b="1" dirty="0">
                <a:solidFill>
                  <a:srgbClr val="1B1B3A"/>
                </a:solidFill>
                <a:latin typeface="Bookman Old Style" pitchFamily="34" charset="0"/>
                <a:ea typeface="Bookman Old Style" pitchFamily="34" charset="-122"/>
                <a:cs typeface="Bookman Old Style" pitchFamily="34" charset="-120"/>
              </a:rPr>
              <a:t>Visualization</a:t>
            </a:r>
            <a:endParaRPr lang="en-US" sz="1450" dirty="0"/>
          </a:p>
        </p:txBody>
      </p:sp>
      <p:sp>
        <p:nvSpPr>
          <p:cNvPr id="28" name="Text 26"/>
          <p:cNvSpPr txBox="1"/>
          <p:nvPr/>
        </p:nvSpPr>
        <p:spPr>
          <a:xfrm>
            <a:off x="4663440" y="5303520"/>
            <a:ext cx="3154680" cy="777240"/>
          </a:xfrm>
          <a:prstGeom prst="rect">
            <a:avLst/>
          </a:prstGeom>
          <a:noFill/>
          <a:ln/>
        </p:spPr>
        <p:txBody>
          <a:bodyPr wrap="square" lIns="0" tIns="0" rIns="0" bIns="0" rtlCol="0" anchor="ctr"/>
          <a:lstStyle/>
          <a:p>
            <a:pPr indent="0" marL="0">
              <a:lnSpc>
                <a:spcPct val="120000"/>
              </a:lnSpc>
              <a:buNone/>
            </a:pPr>
            <a:r>
              <a:rPr lang="en-US" sz="1150" dirty="0">
                <a:solidFill>
                  <a:srgbClr val="6B6B8D"/>
                </a:solidFill>
                <a:latin typeface="Calibri" pitchFamily="34" charset="0"/>
                <a:ea typeface="Calibri" pitchFamily="34" charset="-122"/>
                <a:cs typeface="Calibri" pitchFamily="34" charset="-120"/>
              </a:rPr>
              <a:t>Grouped bars, heatmaps, scatter plots, and time-series charts.</a:t>
            </a:r>
            <a:endParaRPr lang="en-US" sz="1150" dirty="0"/>
          </a:p>
        </p:txBody>
      </p:sp>
      <p:sp>
        <p:nvSpPr>
          <p:cNvPr id="29" name="Shape 27"/>
          <p:cNvSpPr/>
          <p:nvPr/>
        </p:nvSpPr>
        <p:spPr>
          <a:xfrm>
            <a:off x="8321040" y="4023360"/>
            <a:ext cx="3611880" cy="2103120"/>
          </a:xfrm>
          <a:prstGeom prst="roundRect">
            <a:avLst>
              <a:gd name="adj" fmla="val 5217"/>
            </a:avLst>
          </a:prstGeom>
          <a:solidFill>
            <a:srgbClr val="FFFFFF"/>
          </a:solidFill>
          <a:ln w="12700">
            <a:solidFill>
              <a:srgbClr val="E3E3F0"/>
            </a:solidFill>
            <a:prstDash val="solid"/>
          </a:ln>
          <a:effectLst>
            <a:outerShdw sx="100000" sy="100000" kx="0" ky="0" algn="bl" rotWithShape="0" blurRad="101600" dist="25400" dir="5400000">
              <a:srgbClr val="1B1B3A">
                <a:alpha val="10000"/>
              </a:srgbClr>
            </a:outerShdw>
          </a:effectLst>
        </p:spPr>
      </p:sp>
      <p:sp>
        <p:nvSpPr>
          <p:cNvPr id="30" name="Shape 28"/>
          <p:cNvSpPr/>
          <p:nvPr/>
        </p:nvSpPr>
        <p:spPr>
          <a:xfrm>
            <a:off x="8549640" y="4251960"/>
            <a:ext cx="548640" cy="548640"/>
          </a:xfrm>
          <a:prstGeom prst="ellipse">
            <a:avLst/>
          </a:prstGeom>
          <a:solidFill>
            <a:srgbClr val="FF4D6D"/>
          </a:solidFill>
          <a:ln/>
        </p:spPr>
      </p:sp>
      <p:sp>
        <p:nvSpPr>
          <p:cNvPr id="31" name="Text 29"/>
          <p:cNvSpPr txBox="1"/>
          <p:nvPr/>
        </p:nvSpPr>
        <p:spPr>
          <a:xfrm>
            <a:off x="8549640" y="4251960"/>
            <a:ext cx="548640" cy="548640"/>
          </a:xfrm>
          <a:prstGeom prst="rect">
            <a:avLst/>
          </a:prstGeom>
          <a:noFill/>
          <a:ln/>
        </p:spPr>
        <p:txBody>
          <a:bodyPr wrap="square" lIns="0" tIns="0" rIns="0" bIns="0" rtlCol="0" anchor="ctr"/>
          <a:lstStyle/>
          <a:p>
            <a:pPr algn="ctr" indent="0" marL="0">
              <a:buNone/>
            </a:pPr>
            <a:r>
              <a:rPr lang="en-US" sz="1600" b="1" dirty="0">
                <a:solidFill>
                  <a:srgbClr val="F5F5FA"/>
                </a:solidFill>
                <a:latin typeface="Bookman Old Style" pitchFamily="34" charset="0"/>
                <a:ea typeface="Bookman Old Style" pitchFamily="34" charset="-122"/>
                <a:cs typeface="Bookman Old Style" pitchFamily="34" charset="-120"/>
              </a:rPr>
              <a:t>06</a:t>
            </a:r>
            <a:endParaRPr lang="en-US" sz="1600" dirty="0"/>
          </a:p>
        </p:txBody>
      </p:sp>
      <p:sp>
        <p:nvSpPr>
          <p:cNvPr id="32" name="Text 30"/>
          <p:cNvSpPr txBox="1"/>
          <p:nvPr/>
        </p:nvSpPr>
        <p:spPr>
          <a:xfrm>
            <a:off x="8549640" y="4937760"/>
            <a:ext cx="3154680" cy="365760"/>
          </a:xfrm>
          <a:prstGeom prst="rect">
            <a:avLst/>
          </a:prstGeom>
          <a:noFill/>
          <a:ln/>
        </p:spPr>
        <p:txBody>
          <a:bodyPr wrap="square" lIns="0" tIns="0" rIns="0" bIns="0" rtlCol="0" anchor="ctr"/>
          <a:lstStyle/>
          <a:p>
            <a:pPr indent="0" marL="0">
              <a:buNone/>
            </a:pPr>
            <a:r>
              <a:rPr lang="en-US" sz="1450" b="1" dirty="0">
                <a:solidFill>
                  <a:srgbClr val="1B1B3A"/>
                </a:solidFill>
                <a:latin typeface="Bookman Old Style" pitchFamily="34" charset="0"/>
                <a:ea typeface="Bookman Old Style" pitchFamily="34" charset="-122"/>
                <a:cs typeface="Bookman Old Style" pitchFamily="34" charset="-120"/>
              </a:rPr>
              <a:t>Interpretation</a:t>
            </a:r>
            <a:endParaRPr lang="en-US" sz="1450" dirty="0"/>
          </a:p>
        </p:txBody>
      </p:sp>
      <p:sp>
        <p:nvSpPr>
          <p:cNvPr id="33" name="Text 31"/>
          <p:cNvSpPr txBox="1"/>
          <p:nvPr/>
        </p:nvSpPr>
        <p:spPr>
          <a:xfrm>
            <a:off x="8549640" y="5303520"/>
            <a:ext cx="3154680" cy="777240"/>
          </a:xfrm>
          <a:prstGeom prst="rect">
            <a:avLst/>
          </a:prstGeom>
          <a:noFill/>
          <a:ln/>
        </p:spPr>
        <p:txBody>
          <a:bodyPr wrap="square" lIns="0" tIns="0" rIns="0" bIns="0" rtlCol="0" anchor="ctr"/>
          <a:lstStyle/>
          <a:p>
            <a:pPr indent="0" marL="0">
              <a:lnSpc>
                <a:spcPct val="120000"/>
              </a:lnSpc>
              <a:buNone/>
            </a:pPr>
            <a:r>
              <a:rPr lang="en-US" sz="1150" dirty="0">
                <a:solidFill>
                  <a:srgbClr val="6B6B8D"/>
                </a:solidFill>
                <a:latin typeface="Calibri" pitchFamily="34" charset="0"/>
                <a:ea typeface="Calibri" pitchFamily="34" charset="-122"/>
                <a:cs typeface="Calibri" pitchFamily="34" charset="-120"/>
              </a:rPr>
              <a:t>Draw conclusions and document assumptions/limitations.</a:t>
            </a:r>
            <a:endParaRPr lang="en-US" sz="1150" dirty="0"/>
          </a:p>
        </p:txBody>
      </p:sp>
      <p:sp>
        <p:nvSpPr>
          <p:cNvPr id="34" name="Text 32"/>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B6B8D"/>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SCOPE</a:t>
            </a:r>
            <a:endParaRPr lang="en-US" sz="120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5F5FA"/>
                </a:solidFill>
                <a:latin typeface="Bookman Old Style" pitchFamily="34" charset="0"/>
                <a:ea typeface="Bookman Old Style" pitchFamily="34" charset="-122"/>
                <a:cs typeface="Bookman Old Style" pitchFamily="34" charset="-120"/>
              </a:rPr>
              <a:t>Four Business Questions</a:t>
            </a:r>
            <a:endParaRPr lang="en-US" sz="3000" dirty="0"/>
          </a:p>
        </p:txBody>
      </p:sp>
      <p:sp>
        <p:nvSpPr>
          <p:cNvPr id="4" name="Shape 2"/>
          <p:cNvSpPr/>
          <p:nvPr/>
        </p:nvSpPr>
        <p:spPr>
          <a:xfrm>
            <a:off x="640080" y="1691640"/>
            <a:ext cx="5349240" cy="1965960"/>
          </a:xfrm>
          <a:prstGeom prst="roundRect">
            <a:avLst>
              <a:gd name="adj" fmla="val 5581"/>
            </a:avLst>
          </a:prstGeom>
          <a:solidFill>
            <a:srgbClr val="2E2E6E"/>
          </a:solidFill>
          <a:ln/>
        </p:spPr>
      </p:sp>
      <p:sp>
        <p:nvSpPr>
          <p:cNvPr id="5" name="Text 3"/>
          <p:cNvSpPr txBox="1"/>
          <p:nvPr/>
        </p:nvSpPr>
        <p:spPr>
          <a:xfrm>
            <a:off x="914400" y="1920240"/>
            <a:ext cx="822960" cy="822960"/>
          </a:xfrm>
          <a:prstGeom prst="rect">
            <a:avLst/>
          </a:prstGeom>
          <a:noFill/>
          <a:ln/>
        </p:spPr>
        <p:txBody>
          <a:bodyPr wrap="square" lIns="0" tIns="0" rIns="0" bIns="0" rtlCol="0" anchor="ctr"/>
          <a:lstStyle/>
          <a:p>
            <a:pPr indent="0" marL="0">
              <a:buNone/>
            </a:pPr>
            <a:r>
              <a:rPr lang="en-US" sz="3400" b="1" dirty="0">
                <a:solidFill>
                  <a:srgbClr val="FF4D6D"/>
                </a:solidFill>
                <a:latin typeface="Bookman Old Style" pitchFamily="34" charset="0"/>
                <a:ea typeface="Bookman Old Style" pitchFamily="34" charset="-122"/>
                <a:cs typeface="Bookman Old Style" pitchFamily="34" charset="-120"/>
              </a:rPr>
              <a:t>1</a:t>
            </a:r>
            <a:endParaRPr lang="en-US" sz="3400" dirty="0"/>
          </a:p>
        </p:txBody>
      </p:sp>
      <p:sp>
        <p:nvSpPr>
          <p:cNvPr id="6" name="Text 4"/>
          <p:cNvSpPr txBox="1"/>
          <p:nvPr/>
        </p:nvSpPr>
        <p:spPr>
          <a:xfrm>
            <a:off x="1783080" y="1965960"/>
            <a:ext cx="3931920" cy="1417320"/>
          </a:xfrm>
          <a:prstGeom prst="rect">
            <a:avLst/>
          </a:prstGeom>
          <a:noFill/>
          <a:ln/>
        </p:spPr>
        <p:txBody>
          <a:bodyPr wrap="square" lIns="0" tIns="0" rIns="0" bIns="0" rtlCol="0" anchor="ctr"/>
          <a:lstStyle/>
          <a:p>
            <a:pPr indent="0" marL="0">
              <a:lnSpc>
                <a:spcPct val="125000"/>
              </a:lnSpc>
              <a:buNone/>
            </a:pPr>
            <a:r>
              <a:rPr lang="en-US" sz="1500" dirty="0">
                <a:solidFill>
                  <a:srgbClr val="F5F5FA"/>
                </a:solidFill>
                <a:latin typeface="Calibri" pitchFamily="34" charset="0"/>
                <a:ea typeface="Calibri" pitchFamily="34" charset="-122"/>
                <a:cs typeface="Calibri" pitchFamily="34" charset="-120"/>
              </a:rPr>
              <a:t>Which genres/platforms dominate by region (NA vs. EU vs. Japan)?</a:t>
            </a:r>
            <a:endParaRPr lang="en-US" sz="1500" dirty="0"/>
          </a:p>
        </p:txBody>
      </p:sp>
      <p:sp>
        <p:nvSpPr>
          <p:cNvPr id="7" name="Shape 5"/>
          <p:cNvSpPr/>
          <p:nvPr/>
        </p:nvSpPr>
        <p:spPr>
          <a:xfrm>
            <a:off x="6309360" y="1691640"/>
            <a:ext cx="5349240" cy="1965960"/>
          </a:xfrm>
          <a:prstGeom prst="roundRect">
            <a:avLst>
              <a:gd name="adj" fmla="val 5581"/>
            </a:avLst>
          </a:prstGeom>
          <a:solidFill>
            <a:srgbClr val="2E2E6E"/>
          </a:solidFill>
          <a:ln/>
        </p:spPr>
      </p:sp>
      <p:sp>
        <p:nvSpPr>
          <p:cNvPr id="8" name="Text 6"/>
          <p:cNvSpPr txBox="1"/>
          <p:nvPr/>
        </p:nvSpPr>
        <p:spPr>
          <a:xfrm>
            <a:off x="6583680" y="1920240"/>
            <a:ext cx="822960" cy="822960"/>
          </a:xfrm>
          <a:prstGeom prst="rect">
            <a:avLst/>
          </a:prstGeom>
          <a:noFill/>
          <a:ln/>
        </p:spPr>
        <p:txBody>
          <a:bodyPr wrap="square" lIns="0" tIns="0" rIns="0" bIns="0" rtlCol="0" anchor="ctr"/>
          <a:lstStyle/>
          <a:p>
            <a:pPr indent="0" marL="0">
              <a:buNone/>
            </a:pPr>
            <a:r>
              <a:rPr lang="en-US" sz="3400" b="1" dirty="0">
                <a:solidFill>
                  <a:srgbClr val="FF4D6D"/>
                </a:solidFill>
                <a:latin typeface="Bookman Old Style" pitchFamily="34" charset="0"/>
                <a:ea typeface="Bookman Old Style" pitchFamily="34" charset="-122"/>
                <a:cs typeface="Bookman Old Style" pitchFamily="34" charset="-120"/>
              </a:rPr>
              <a:t>2</a:t>
            </a:r>
            <a:endParaRPr lang="en-US" sz="3400" dirty="0"/>
          </a:p>
        </p:txBody>
      </p:sp>
      <p:sp>
        <p:nvSpPr>
          <p:cNvPr id="9" name="Text 7"/>
          <p:cNvSpPr txBox="1"/>
          <p:nvPr/>
        </p:nvSpPr>
        <p:spPr>
          <a:xfrm>
            <a:off x="7452360" y="1965960"/>
            <a:ext cx="3931920" cy="1417320"/>
          </a:xfrm>
          <a:prstGeom prst="rect">
            <a:avLst/>
          </a:prstGeom>
          <a:noFill/>
          <a:ln/>
        </p:spPr>
        <p:txBody>
          <a:bodyPr wrap="square" lIns="0" tIns="0" rIns="0" bIns="0" rtlCol="0" anchor="ctr"/>
          <a:lstStyle/>
          <a:p>
            <a:pPr indent="0" marL="0">
              <a:lnSpc>
                <a:spcPct val="125000"/>
              </a:lnSpc>
              <a:buNone/>
            </a:pPr>
            <a:r>
              <a:rPr lang="en-US" sz="1500" dirty="0">
                <a:solidFill>
                  <a:srgbClr val="F5F5FA"/>
                </a:solidFill>
                <a:latin typeface="Calibri" pitchFamily="34" charset="0"/>
                <a:ea typeface="Calibri" pitchFamily="34" charset="-122"/>
                <a:cs typeface="Calibri" pitchFamily="34" charset="-120"/>
              </a:rPr>
              <a:t>How have sales trends shifted over console generations?</a:t>
            </a:r>
            <a:endParaRPr lang="en-US" sz="1500" dirty="0"/>
          </a:p>
        </p:txBody>
      </p:sp>
      <p:sp>
        <p:nvSpPr>
          <p:cNvPr id="10" name="Shape 8"/>
          <p:cNvSpPr/>
          <p:nvPr/>
        </p:nvSpPr>
        <p:spPr>
          <a:xfrm>
            <a:off x="640080" y="3977640"/>
            <a:ext cx="5349240" cy="1965960"/>
          </a:xfrm>
          <a:prstGeom prst="roundRect">
            <a:avLst>
              <a:gd name="adj" fmla="val 5581"/>
            </a:avLst>
          </a:prstGeom>
          <a:solidFill>
            <a:srgbClr val="2E2E6E"/>
          </a:solidFill>
          <a:ln/>
        </p:spPr>
      </p:sp>
      <p:sp>
        <p:nvSpPr>
          <p:cNvPr id="11" name="Text 9"/>
          <p:cNvSpPr txBox="1"/>
          <p:nvPr/>
        </p:nvSpPr>
        <p:spPr>
          <a:xfrm>
            <a:off x="914400" y="4206240"/>
            <a:ext cx="822960" cy="822960"/>
          </a:xfrm>
          <a:prstGeom prst="rect">
            <a:avLst/>
          </a:prstGeom>
          <a:noFill/>
          <a:ln/>
        </p:spPr>
        <p:txBody>
          <a:bodyPr wrap="square" lIns="0" tIns="0" rIns="0" bIns="0" rtlCol="0" anchor="ctr"/>
          <a:lstStyle/>
          <a:p>
            <a:pPr indent="0" marL="0">
              <a:buNone/>
            </a:pPr>
            <a:r>
              <a:rPr lang="en-US" sz="3400" b="1" dirty="0">
                <a:solidFill>
                  <a:srgbClr val="FF4D6D"/>
                </a:solidFill>
                <a:latin typeface="Bookman Old Style" pitchFamily="34" charset="0"/>
                <a:ea typeface="Bookman Old Style" pitchFamily="34" charset="-122"/>
                <a:cs typeface="Bookman Old Style" pitchFamily="34" charset="-120"/>
              </a:rPr>
              <a:t>3</a:t>
            </a:r>
            <a:endParaRPr lang="en-US" sz="3400" dirty="0"/>
          </a:p>
        </p:txBody>
      </p:sp>
      <p:sp>
        <p:nvSpPr>
          <p:cNvPr id="12" name="Text 10"/>
          <p:cNvSpPr txBox="1"/>
          <p:nvPr/>
        </p:nvSpPr>
        <p:spPr>
          <a:xfrm>
            <a:off x="1783080" y="4251960"/>
            <a:ext cx="3931920" cy="1417320"/>
          </a:xfrm>
          <a:prstGeom prst="rect">
            <a:avLst/>
          </a:prstGeom>
          <a:noFill/>
          <a:ln/>
        </p:spPr>
        <p:txBody>
          <a:bodyPr wrap="square" lIns="0" tIns="0" rIns="0" bIns="0" rtlCol="0" anchor="ctr"/>
          <a:lstStyle/>
          <a:p>
            <a:pPr indent="0" marL="0">
              <a:lnSpc>
                <a:spcPct val="125000"/>
              </a:lnSpc>
              <a:buNone/>
            </a:pPr>
            <a:r>
              <a:rPr lang="en-US" sz="1500" dirty="0">
                <a:solidFill>
                  <a:srgbClr val="F5F5FA"/>
                </a:solidFill>
                <a:latin typeface="Calibri" pitchFamily="34" charset="0"/>
                <a:ea typeface="Calibri" pitchFamily="34" charset="-122"/>
                <a:cs typeface="Calibri" pitchFamily="34" charset="-120"/>
              </a:rPr>
              <a:t>Do critic scores correlate with sales?</a:t>
            </a:r>
            <a:endParaRPr lang="en-US" sz="1500" dirty="0"/>
          </a:p>
        </p:txBody>
      </p:sp>
      <p:sp>
        <p:nvSpPr>
          <p:cNvPr id="13" name="Shape 11"/>
          <p:cNvSpPr/>
          <p:nvPr/>
        </p:nvSpPr>
        <p:spPr>
          <a:xfrm>
            <a:off x="6309360" y="3977640"/>
            <a:ext cx="5349240" cy="1965960"/>
          </a:xfrm>
          <a:prstGeom prst="roundRect">
            <a:avLst>
              <a:gd name="adj" fmla="val 5581"/>
            </a:avLst>
          </a:prstGeom>
          <a:solidFill>
            <a:srgbClr val="2E2E6E"/>
          </a:solidFill>
          <a:ln/>
        </p:spPr>
      </p:sp>
      <p:sp>
        <p:nvSpPr>
          <p:cNvPr id="14" name="Text 12"/>
          <p:cNvSpPr txBox="1"/>
          <p:nvPr/>
        </p:nvSpPr>
        <p:spPr>
          <a:xfrm>
            <a:off x="6583680" y="4206240"/>
            <a:ext cx="822960" cy="822960"/>
          </a:xfrm>
          <a:prstGeom prst="rect">
            <a:avLst/>
          </a:prstGeom>
          <a:noFill/>
          <a:ln/>
        </p:spPr>
        <p:txBody>
          <a:bodyPr wrap="square" lIns="0" tIns="0" rIns="0" bIns="0" rtlCol="0" anchor="ctr"/>
          <a:lstStyle/>
          <a:p>
            <a:pPr indent="0" marL="0">
              <a:buNone/>
            </a:pPr>
            <a:r>
              <a:rPr lang="en-US" sz="3400" b="1" dirty="0">
                <a:solidFill>
                  <a:srgbClr val="FF4D6D"/>
                </a:solidFill>
                <a:latin typeface="Bookman Old Style" pitchFamily="34" charset="0"/>
                <a:ea typeface="Bookman Old Style" pitchFamily="34" charset="-122"/>
                <a:cs typeface="Bookman Old Style" pitchFamily="34" charset="-120"/>
              </a:rPr>
              <a:t>4</a:t>
            </a:r>
            <a:endParaRPr lang="en-US" sz="3400" dirty="0"/>
          </a:p>
        </p:txBody>
      </p:sp>
      <p:sp>
        <p:nvSpPr>
          <p:cNvPr id="15" name="Text 13"/>
          <p:cNvSpPr txBox="1"/>
          <p:nvPr/>
        </p:nvSpPr>
        <p:spPr>
          <a:xfrm>
            <a:off x="7452360" y="4251960"/>
            <a:ext cx="3931920" cy="1417320"/>
          </a:xfrm>
          <a:prstGeom prst="rect">
            <a:avLst/>
          </a:prstGeom>
          <a:noFill/>
          <a:ln/>
        </p:spPr>
        <p:txBody>
          <a:bodyPr wrap="square" lIns="0" tIns="0" rIns="0" bIns="0" rtlCol="0" anchor="ctr"/>
          <a:lstStyle/>
          <a:p>
            <a:pPr indent="0" marL="0">
              <a:lnSpc>
                <a:spcPct val="125000"/>
              </a:lnSpc>
              <a:buNone/>
            </a:pPr>
            <a:r>
              <a:rPr lang="en-US" sz="1500" dirty="0">
                <a:solidFill>
                  <a:srgbClr val="F5F5FA"/>
                </a:solidFill>
                <a:latin typeface="Calibri" pitchFamily="34" charset="0"/>
                <a:ea typeface="Calibri" pitchFamily="34" charset="-122"/>
                <a:cs typeface="Calibri" pitchFamily="34" charset="-120"/>
              </a:rPr>
              <a:t>Which publishers have the most consistent hit rate?</a:t>
            </a:r>
            <a:endParaRPr lang="en-US" sz="1500" dirty="0"/>
          </a:p>
        </p:txBody>
      </p:sp>
      <p:sp>
        <p:nvSpPr>
          <p:cNvPr id="16" name="Text 14"/>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9A9AC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A"/>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F4D6D"/>
                </a:solidFill>
                <a:latin typeface="Calibri" pitchFamily="34" charset="0"/>
                <a:ea typeface="Calibri" pitchFamily="34" charset="-122"/>
                <a:cs typeface="Calibri" pitchFamily="34" charset="-120"/>
              </a:rPr>
              <a:t>QUESTION 1 — REGIONAL DOMINANCE</a:t>
            </a:r>
            <a:endParaRPr lang="en-US" sz="120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1B1B3A"/>
                </a:solidFill>
                <a:latin typeface="Bookman Old Style" pitchFamily="34" charset="0"/>
                <a:ea typeface="Bookman Old Style" pitchFamily="34" charset="-122"/>
                <a:cs typeface="Bookman Old Style" pitchFamily="34" charset="-120"/>
              </a:rPr>
              <a:t>Genre Preference Varies Sharply by Region</a:t>
            </a:r>
            <a:endParaRPr lang="en-US" sz="3000" dirty="0"/>
          </a:p>
        </p:txBody>
      </p:sp>
      <p:pic>
        <p:nvPicPr>
          <p:cNvPr id="4" name="Image 0" descr="/home/claude/ppt/images/genre_region_share.png">    </p:cNvPr>
          <p:cNvPicPr>
            <a:picLocks noChangeAspect="1"/>
          </p:cNvPicPr>
          <p:nvPr/>
        </p:nvPicPr>
        <p:blipFill>
          <a:blip r:embed="rId1"/>
          <a:stretch>
            <a:fillRect/>
          </a:stretch>
        </p:blipFill>
        <p:spPr>
          <a:xfrm>
            <a:off x="548640" y="1508760"/>
            <a:ext cx="7360920" cy="4553712"/>
          </a:xfrm>
          <a:prstGeom prst="rect">
            <a:avLst/>
          </a:prstGeom>
        </p:spPr>
      </p:pic>
      <p:sp>
        <p:nvSpPr>
          <p:cNvPr id="5" name="Shape 2"/>
          <p:cNvSpPr/>
          <p:nvPr/>
        </p:nvSpPr>
        <p:spPr>
          <a:xfrm>
            <a:off x="8092440" y="1508760"/>
            <a:ext cx="3520440" cy="4553712"/>
          </a:xfrm>
          <a:prstGeom prst="roundRect">
            <a:avLst>
              <a:gd name="adj" fmla="val 3117"/>
            </a:avLst>
          </a:prstGeom>
          <a:solidFill>
            <a:srgbClr val="1B1B3A"/>
          </a:solidFill>
          <a:ln/>
        </p:spPr>
      </p:sp>
      <p:sp>
        <p:nvSpPr>
          <p:cNvPr id="6" name="Text 3"/>
          <p:cNvSpPr txBox="1"/>
          <p:nvPr/>
        </p:nvSpPr>
        <p:spPr>
          <a:xfrm>
            <a:off x="8366760" y="1737360"/>
            <a:ext cx="3017520" cy="365760"/>
          </a:xfrm>
          <a:prstGeom prst="rect">
            <a:avLst/>
          </a:prstGeom>
          <a:noFill/>
          <a:ln/>
        </p:spPr>
        <p:txBody>
          <a:bodyPr wrap="square" lIns="0" tIns="0" rIns="0" bIns="0" rtlCol="0" anchor="ctr"/>
          <a:lstStyle/>
          <a:p>
            <a:pPr indent="0" marL="0">
              <a:buNone/>
            </a:pPr>
            <a:r>
              <a:rPr lang="en-US" sz="1500" b="1" dirty="0">
                <a:solidFill>
                  <a:srgbClr val="FFC145"/>
                </a:solidFill>
                <a:latin typeface="Bookman Old Style" pitchFamily="34" charset="0"/>
                <a:ea typeface="Bookman Old Style" pitchFamily="34" charset="-122"/>
                <a:cs typeface="Bookman Old Style" pitchFamily="34" charset="-120"/>
              </a:rPr>
              <a:t>Key Findings</a:t>
            </a:r>
            <a:endParaRPr lang="en-US" sz="1500" dirty="0"/>
          </a:p>
        </p:txBody>
      </p:sp>
      <p:sp>
        <p:nvSpPr>
          <p:cNvPr id="7" name="Text 4"/>
          <p:cNvSpPr txBox="1"/>
          <p:nvPr/>
        </p:nvSpPr>
        <p:spPr>
          <a:xfrm>
            <a:off x="8366760" y="2148840"/>
            <a:ext cx="3017520" cy="374904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150" dirty="0">
                <a:solidFill>
                  <a:srgbClr val="F5F5FA"/>
                </a:solidFill>
                <a:latin typeface="Calibri" pitchFamily="34" charset="0"/>
                <a:ea typeface="Calibri" pitchFamily="34" charset="-122"/>
                <a:cs typeface="Calibri" pitchFamily="34" charset="-120"/>
              </a:rPr>
              <a:t>Role-Playing games take a massive 27% share of Japan's sales — far above NA (7.6%) or EU (7.8%).</a:t>
            </a:r>
            <a:endParaRPr lang="en-US" sz="1150" dirty="0"/>
          </a:p>
          <a:p>
            <a:pPr marL="342900" indent="-342900">
              <a:lnSpc>
                <a:spcPct val="120000"/>
              </a:lnSpc>
              <a:spcAft>
                <a:spcPts val="1200"/>
              </a:spcAft>
              <a:buSzPct val="100000"/>
              <a:buChar char="▪"/>
            </a:pPr>
            <a:r>
              <a:rPr lang="en-US" sz="1150" dirty="0">
                <a:solidFill>
                  <a:srgbClr val="F5F5FA"/>
                </a:solidFill>
                <a:latin typeface="Calibri" pitchFamily="34" charset="0"/>
                <a:ea typeface="Calibri" pitchFamily="34" charset="-122"/>
                <a:cs typeface="Calibri" pitchFamily="34" charset="-120"/>
              </a:rPr>
              <a:t>Action leads in NA (19.9%) and EU (21.3%), but trails in Japan (12.4%).</a:t>
            </a:r>
            <a:endParaRPr lang="en-US" sz="1150" dirty="0"/>
          </a:p>
          <a:p>
            <a:pPr marL="342900" indent="-342900">
              <a:lnSpc>
                <a:spcPct val="120000"/>
              </a:lnSpc>
              <a:spcAft>
                <a:spcPts val="1200"/>
              </a:spcAft>
              <a:buSzPct val="100000"/>
              <a:buChar char="▪"/>
            </a:pPr>
            <a:r>
              <a:rPr lang="en-US" sz="1150" dirty="0">
                <a:solidFill>
                  <a:srgbClr val="F5F5FA"/>
                </a:solidFill>
                <a:latin typeface="Calibri" pitchFamily="34" charset="0"/>
                <a:ea typeface="Calibri" pitchFamily="34" charset="-122"/>
                <a:cs typeface="Calibri" pitchFamily="34" charset="-120"/>
              </a:rPr>
              <a:t>Shooter titles are far more popular in NA/EU (~13-14%) than Japan (3.0%).</a:t>
            </a:r>
            <a:endParaRPr lang="en-US" sz="1150" dirty="0"/>
          </a:p>
          <a:p>
            <a:pPr marL="342900" indent="-342900">
              <a:lnSpc>
                <a:spcPct val="120000"/>
              </a:lnSpc>
              <a:spcAft>
                <a:spcPts val="1200"/>
              </a:spcAft>
              <a:buSzPct val="100000"/>
              <a:buChar char="▪"/>
            </a:pPr>
            <a:r>
              <a:rPr lang="en-US" sz="1150" dirty="0">
                <a:solidFill>
                  <a:srgbClr val="F5F5FA"/>
                </a:solidFill>
                <a:latin typeface="Calibri" pitchFamily="34" charset="0"/>
                <a:ea typeface="Calibri" pitchFamily="34" charset="-122"/>
                <a:cs typeface="Calibri" pitchFamily="34" charset="-120"/>
              </a:rPr>
              <a:t>Sports sales share is remarkably consistent across all three regions (~15.4%).</a:t>
            </a:r>
            <a:endParaRPr lang="en-US" sz="1150" dirty="0"/>
          </a:p>
        </p:txBody>
      </p:sp>
      <p:sp>
        <p:nvSpPr>
          <p:cNvPr id="8" name="Text 5"/>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B6B8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A"/>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F4D6D"/>
                </a:solidFill>
                <a:latin typeface="Calibri" pitchFamily="34" charset="0"/>
                <a:ea typeface="Calibri" pitchFamily="34" charset="-122"/>
                <a:cs typeface="Calibri" pitchFamily="34" charset="-120"/>
              </a:rPr>
              <a:t>QUESTION 1 — REGIONAL DOMINANCE</a:t>
            </a:r>
            <a:endParaRPr lang="en-US" sz="120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1B1B3A"/>
                </a:solidFill>
                <a:latin typeface="Bookman Old Style" pitchFamily="34" charset="0"/>
                <a:ea typeface="Bookman Old Style" pitchFamily="34" charset="-122"/>
                <a:cs typeface="Bookman Old Style" pitchFamily="34" charset="-120"/>
              </a:rPr>
              <a:t>Platform Success Is Regionally Concentrated</a:t>
            </a:r>
            <a:endParaRPr lang="en-US" sz="3000" dirty="0"/>
          </a:p>
        </p:txBody>
      </p:sp>
      <p:pic>
        <p:nvPicPr>
          <p:cNvPr id="4" name="Image 0" descr="/home/claude/ppt/images/platform_region_heatmap.png">    </p:cNvPr>
          <p:cNvPicPr>
            <a:picLocks noChangeAspect="1"/>
          </p:cNvPicPr>
          <p:nvPr/>
        </p:nvPicPr>
        <p:blipFill>
          <a:blip r:embed="rId1"/>
          <a:stretch>
            <a:fillRect/>
          </a:stretch>
        </p:blipFill>
        <p:spPr>
          <a:xfrm>
            <a:off x="914400" y="1463040"/>
            <a:ext cx="6583680" cy="4974336"/>
          </a:xfrm>
          <a:prstGeom prst="rect">
            <a:avLst/>
          </a:prstGeom>
        </p:spPr>
      </p:pic>
      <p:sp>
        <p:nvSpPr>
          <p:cNvPr id="5" name="Shape 2"/>
          <p:cNvSpPr/>
          <p:nvPr/>
        </p:nvSpPr>
        <p:spPr>
          <a:xfrm>
            <a:off x="7863840" y="1463040"/>
            <a:ext cx="3749040" cy="4974336"/>
          </a:xfrm>
          <a:prstGeom prst="roundRect">
            <a:avLst>
              <a:gd name="adj" fmla="val 2927"/>
            </a:avLst>
          </a:prstGeom>
          <a:solidFill>
            <a:srgbClr val="FFFFFF"/>
          </a:solidFill>
          <a:ln w="12700">
            <a:solidFill>
              <a:srgbClr val="E3E3F0"/>
            </a:solidFill>
            <a:prstDash val="solid"/>
          </a:ln>
          <a:effectLst>
            <a:outerShdw sx="100000" sy="100000" kx="0" ky="0" algn="bl" rotWithShape="0" blurRad="101600" dist="25400" dir="5400000">
              <a:srgbClr val="1B1B3A">
                <a:alpha val="10000"/>
              </a:srgbClr>
            </a:outerShdw>
          </a:effectLst>
        </p:spPr>
      </p:sp>
      <p:sp>
        <p:nvSpPr>
          <p:cNvPr id="6" name="Text 3"/>
          <p:cNvSpPr txBox="1"/>
          <p:nvPr/>
        </p:nvSpPr>
        <p:spPr>
          <a:xfrm>
            <a:off x="8138160" y="1691640"/>
            <a:ext cx="3200400" cy="365760"/>
          </a:xfrm>
          <a:prstGeom prst="rect">
            <a:avLst/>
          </a:prstGeom>
          <a:noFill/>
          <a:ln/>
        </p:spPr>
        <p:txBody>
          <a:bodyPr wrap="square" lIns="0" tIns="0" rIns="0" bIns="0" rtlCol="0" anchor="ctr"/>
          <a:lstStyle/>
          <a:p>
            <a:pPr indent="0" marL="0">
              <a:buNone/>
            </a:pPr>
            <a:r>
              <a:rPr lang="en-US" sz="1500" b="1" dirty="0">
                <a:solidFill>
                  <a:srgbClr val="6C5CE7"/>
                </a:solidFill>
                <a:latin typeface="Bookman Old Style" pitchFamily="34" charset="0"/>
                <a:ea typeface="Bookman Old Style" pitchFamily="34" charset="-122"/>
                <a:cs typeface="Bookman Old Style" pitchFamily="34" charset="-120"/>
              </a:rPr>
              <a:t>Key Findings</a:t>
            </a:r>
            <a:endParaRPr lang="en-US" sz="1500" dirty="0"/>
          </a:p>
        </p:txBody>
      </p:sp>
      <p:sp>
        <p:nvSpPr>
          <p:cNvPr id="7" name="Text 4"/>
          <p:cNvSpPr txBox="1"/>
          <p:nvPr/>
        </p:nvSpPr>
        <p:spPr>
          <a:xfrm>
            <a:off x="8138160" y="2103120"/>
            <a:ext cx="3200400" cy="411480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150" dirty="0">
                <a:solidFill>
                  <a:srgbClr val="1B1B3A"/>
                </a:solidFill>
                <a:latin typeface="Calibri" pitchFamily="34" charset="0"/>
                <a:ea typeface="Calibri" pitchFamily="34" charset="-122"/>
                <a:cs typeface="Calibri" pitchFamily="34" charset="-120"/>
              </a:rPr>
              <a:t>Xbox 360 sales are heavily NA/EU-driven (13.7% / 11.2%) with almost no Japan presence (1.0%).</a:t>
            </a:r>
            <a:endParaRPr lang="en-US" sz="1150" dirty="0"/>
          </a:p>
          <a:p>
            <a:pPr marL="342900" indent="-342900">
              <a:lnSpc>
                <a:spcPct val="120000"/>
              </a:lnSpc>
              <a:spcAft>
                <a:spcPts val="1200"/>
              </a:spcAft>
              <a:buSzPct val="100000"/>
              <a:buChar char="▪"/>
            </a:pPr>
            <a:r>
              <a:rPr lang="en-US" sz="1150" dirty="0">
                <a:solidFill>
                  <a:srgbClr val="1B1B3A"/>
                </a:solidFill>
                <a:latin typeface="Calibri" pitchFamily="34" charset="0"/>
                <a:ea typeface="Calibri" pitchFamily="34" charset="-122"/>
                <a:cs typeface="Calibri" pitchFamily="34" charset="-120"/>
              </a:rPr>
              <a:t>PS2 and Wii show balanced, consistently strong shares across all three regions.</a:t>
            </a:r>
            <a:endParaRPr lang="en-US" sz="1150" dirty="0"/>
          </a:p>
          <a:p>
            <a:pPr marL="342900" indent="-342900">
              <a:lnSpc>
                <a:spcPct val="120000"/>
              </a:lnSpc>
              <a:spcAft>
                <a:spcPts val="1200"/>
              </a:spcAft>
              <a:buSzPct val="100000"/>
              <a:buChar char="▪"/>
            </a:pPr>
            <a:r>
              <a:rPr lang="en-US" sz="1150" dirty="0">
                <a:solidFill>
                  <a:srgbClr val="1B1B3A"/>
                </a:solidFill>
                <a:latin typeface="Calibri" pitchFamily="34" charset="0"/>
                <a:ea typeface="Calibri" pitchFamily="34" charset="-122"/>
                <a:cs typeface="Calibri" pitchFamily="34" charset="-120"/>
              </a:rPr>
              <a:t>Handhelds (DS, GB, 3DS) and PC punch well above their global weight in Japan and EU.</a:t>
            </a:r>
            <a:endParaRPr lang="en-US" sz="1150" dirty="0"/>
          </a:p>
          <a:p>
            <a:pPr marL="342900" indent="-342900">
              <a:lnSpc>
                <a:spcPct val="120000"/>
              </a:lnSpc>
              <a:spcAft>
                <a:spcPts val="1200"/>
              </a:spcAft>
              <a:buSzPct val="100000"/>
              <a:buChar char="▪"/>
            </a:pPr>
            <a:r>
              <a:rPr lang="en-US" sz="1150" dirty="0">
                <a:solidFill>
                  <a:srgbClr val="1B1B3A"/>
                </a:solidFill>
                <a:latin typeface="Calibri" pitchFamily="34" charset="0"/>
                <a:ea typeface="Calibri" pitchFamily="34" charset="-122"/>
                <a:cs typeface="Calibri" pitchFamily="34" charset="-120"/>
              </a:rPr>
              <a:t>PS4 sales share is comparatively small everywhere in this dataset, reflecting its later release window.</a:t>
            </a:r>
            <a:endParaRPr lang="en-US" sz="1150" dirty="0"/>
          </a:p>
        </p:txBody>
      </p:sp>
      <p:sp>
        <p:nvSpPr>
          <p:cNvPr id="8" name="Text 5"/>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B6B8D"/>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A"/>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F4D6D"/>
                </a:solidFill>
                <a:latin typeface="Calibri" pitchFamily="34" charset="0"/>
                <a:ea typeface="Calibri" pitchFamily="34" charset="-122"/>
                <a:cs typeface="Calibri" pitchFamily="34" charset="-120"/>
              </a:rPr>
              <a:t>QUESTION 2 — GENERATIONAL TRENDS</a:t>
            </a:r>
            <a:endParaRPr lang="en-US" sz="120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1B1B3A"/>
                </a:solidFill>
                <a:latin typeface="Bookman Old Style" pitchFamily="34" charset="0"/>
                <a:ea typeface="Bookman Old Style" pitchFamily="34" charset="-122"/>
                <a:cs typeface="Bookman Old Style" pitchFamily="34" charset="-120"/>
              </a:rPr>
              <a:t>Global Sales Peaked in the Late 2000s</a:t>
            </a:r>
            <a:endParaRPr lang="en-US" sz="3000" dirty="0"/>
          </a:p>
        </p:txBody>
      </p:sp>
      <p:pic>
        <p:nvPicPr>
          <p:cNvPr id="4" name="Image 0" descr="/home/claude/ppt/images/yearly_global_sales.png">    </p:cNvPr>
          <p:cNvPicPr>
            <a:picLocks noChangeAspect="1"/>
          </p:cNvPicPr>
          <p:nvPr/>
        </p:nvPicPr>
        <p:blipFill>
          <a:blip r:embed="rId1"/>
          <a:stretch>
            <a:fillRect/>
          </a:stretch>
        </p:blipFill>
        <p:spPr>
          <a:xfrm>
            <a:off x="548640" y="1508760"/>
            <a:ext cx="7589520" cy="3749040"/>
          </a:xfrm>
          <a:prstGeom prst="rect">
            <a:avLst/>
          </a:prstGeom>
        </p:spPr>
      </p:pic>
      <p:sp>
        <p:nvSpPr>
          <p:cNvPr id="5" name="Shape 2"/>
          <p:cNvSpPr/>
          <p:nvPr/>
        </p:nvSpPr>
        <p:spPr>
          <a:xfrm>
            <a:off x="548640" y="5440680"/>
            <a:ext cx="7589520" cy="777240"/>
          </a:xfrm>
          <a:prstGeom prst="roundRect">
            <a:avLst>
              <a:gd name="adj" fmla="val 11765"/>
            </a:avLst>
          </a:prstGeom>
          <a:solidFill>
            <a:srgbClr val="1B1B3A"/>
          </a:solidFill>
          <a:ln/>
        </p:spPr>
      </p:sp>
      <p:sp>
        <p:nvSpPr>
          <p:cNvPr id="6" name="Text 3"/>
          <p:cNvSpPr txBox="1"/>
          <p:nvPr/>
        </p:nvSpPr>
        <p:spPr>
          <a:xfrm>
            <a:off x="777240" y="5577840"/>
            <a:ext cx="7132320" cy="502920"/>
          </a:xfrm>
          <a:prstGeom prst="rect">
            <a:avLst/>
          </a:prstGeom>
          <a:noFill/>
          <a:ln/>
        </p:spPr>
        <p:txBody>
          <a:bodyPr wrap="square" lIns="0" tIns="0" rIns="0" bIns="0" rtlCol="0" anchor="ctr"/>
          <a:lstStyle/>
          <a:p>
            <a:pPr indent="0" marL="0">
              <a:buNone/>
            </a:pPr>
            <a:r>
              <a:rPr lang="en-US" sz="1250" b="1" dirty="0">
                <a:solidFill>
                  <a:srgbClr val="FFC145"/>
                </a:solidFill>
                <a:latin typeface="Calibri" pitchFamily="34" charset="0"/>
                <a:ea typeface="Calibri" pitchFamily="34" charset="-122"/>
                <a:cs typeface="Calibri" pitchFamily="34" charset="-120"/>
              </a:rPr>
              <a:t>Peak year: </a:t>
            </a:r>
            <a:pPr indent="0" marL="0">
              <a:buNone/>
            </a:pPr>
            <a:r>
              <a:rPr lang="en-US" sz="1250" dirty="0">
                <a:solidFill>
                  <a:srgbClr val="F5F5FA"/>
                </a:solidFill>
                <a:latin typeface="Calibri" pitchFamily="34" charset="0"/>
                <a:ea typeface="Calibri" pitchFamily="34" charset="-122"/>
                <a:cs typeface="Calibri" pitchFamily="34" charset="-120"/>
              </a:rPr>
              <a:t>2008 (~672M units) — sales fall sharply after 2011 as tracked physical-sales volume declines industry-wide.</a:t>
            </a:r>
            <a:endParaRPr lang="en-US" sz="1250" dirty="0"/>
          </a:p>
        </p:txBody>
      </p:sp>
      <p:sp>
        <p:nvSpPr>
          <p:cNvPr id="7" name="Shape 4"/>
          <p:cNvSpPr/>
          <p:nvPr/>
        </p:nvSpPr>
        <p:spPr>
          <a:xfrm>
            <a:off x="8366760" y="1508760"/>
            <a:ext cx="3246120" cy="4709160"/>
          </a:xfrm>
          <a:prstGeom prst="roundRect">
            <a:avLst>
              <a:gd name="adj" fmla="val 3380"/>
            </a:avLst>
          </a:prstGeom>
          <a:solidFill>
            <a:srgbClr val="FFFFFF"/>
          </a:solidFill>
          <a:ln w="12700">
            <a:solidFill>
              <a:srgbClr val="E3E3F0"/>
            </a:solidFill>
            <a:prstDash val="solid"/>
          </a:ln>
          <a:effectLst>
            <a:outerShdw sx="100000" sy="100000" kx="0" ky="0" algn="bl" rotWithShape="0" blurRad="101600" dist="25400" dir="5400000">
              <a:srgbClr val="1B1B3A">
                <a:alpha val="10000"/>
              </a:srgbClr>
            </a:outerShdw>
          </a:effectLst>
        </p:spPr>
      </p:sp>
      <p:sp>
        <p:nvSpPr>
          <p:cNvPr id="8" name="Text 5"/>
          <p:cNvSpPr txBox="1"/>
          <p:nvPr/>
        </p:nvSpPr>
        <p:spPr>
          <a:xfrm>
            <a:off x="8641080" y="1737360"/>
            <a:ext cx="2743200" cy="365760"/>
          </a:xfrm>
          <a:prstGeom prst="rect">
            <a:avLst/>
          </a:prstGeom>
          <a:noFill/>
          <a:ln/>
        </p:spPr>
        <p:txBody>
          <a:bodyPr wrap="square" lIns="0" tIns="0" rIns="0" bIns="0" rtlCol="0" anchor="ctr"/>
          <a:lstStyle/>
          <a:p>
            <a:pPr indent="0" marL="0">
              <a:buNone/>
            </a:pPr>
            <a:r>
              <a:rPr lang="en-US" sz="1500" b="1" dirty="0">
                <a:solidFill>
                  <a:srgbClr val="FF4D6D"/>
                </a:solidFill>
                <a:latin typeface="Bookman Old Style" pitchFamily="34" charset="0"/>
                <a:ea typeface="Bookman Old Style" pitchFamily="34" charset="-122"/>
                <a:cs typeface="Bookman Old Style" pitchFamily="34" charset="-120"/>
              </a:rPr>
              <a:t>Key Findings</a:t>
            </a:r>
            <a:endParaRPr lang="en-US" sz="1500" dirty="0"/>
          </a:p>
        </p:txBody>
      </p:sp>
      <p:sp>
        <p:nvSpPr>
          <p:cNvPr id="9" name="Text 6"/>
          <p:cNvSpPr txBox="1"/>
          <p:nvPr/>
        </p:nvSpPr>
        <p:spPr>
          <a:xfrm>
            <a:off x="8641080" y="2148840"/>
            <a:ext cx="2743200" cy="384048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150" dirty="0">
                <a:solidFill>
                  <a:srgbClr val="1B1B3A"/>
                </a:solidFill>
                <a:latin typeface="Calibri" pitchFamily="34" charset="0"/>
                <a:ea typeface="Calibri" pitchFamily="34" charset="-122"/>
                <a:cs typeface="Calibri" pitchFamily="34" charset="-120"/>
              </a:rPr>
              <a:t>Sales grew steadily from the 1980s through the mid-1990s, then accelerated sharply post-2000.</a:t>
            </a:r>
            <a:endParaRPr lang="en-US" sz="1150" dirty="0"/>
          </a:p>
          <a:p>
            <a:pPr marL="342900" indent="-342900">
              <a:lnSpc>
                <a:spcPct val="120000"/>
              </a:lnSpc>
              <a:spcAft>
                <a:spcPts val="1200"/>
              </a:spcAft>
              <a:buSzPct val="100000"/>
              <a:buChar char="▪"/>
            </a:pPr>
            <a:r>
              <a:rPr lang="en-US" sz="1150" dirty="0">
                <a:solidFill>
                  <a:srgbClr val="1B1B3A"/>
                </a:solidFill>
                <a:latin typeface="Calibri" pitchFamily="34" charset="0"/>
                <a:ea typeface="Calibri" pitchFamily="34" charset="-122"/>
                <a:cs typeface="Calibri" pitchFamily="34" charset="-120"/>
              </a:rPr>
              <a:t>The 2006-2010 window (7th generation) marks the all-time commercial peak of the industry in this dataset.</a:t>
            </a:r>
            <a:endParaRPr lang="en-US" sz="1150" dirty="0"/>
          </a:p>
          <a:p>
            <a:pPr marL="342900" indent="-342900">
              <a:lnSpc>
                <a:spcPct val="120000"/>
              </a:lnSpc>
              <a:spcAft>
                <a:spcPts val="1200"/>
              </a:spcAft>
              <a:buSzPct val="100000"/>
              <a:buChar char="▪"/>
            </a:pPr>
            <a:r>
              <a:rPr lang="en-US" sz="1150" dirty="0">
                <a:solidFill>
                  <a:srgbClr val="1B1B3A"/>
                </a:solidFill>
                <a:latin typeface="Calibri" pitchFamily="34" charset="0"/>
                <a:ea typeface="Calibri" pitchFamily="34" charset="-122"/>
                <a:cs typeface="Calibri" pitchFamily="34" charset="-120"/>
              </a:rPr>
              <a:t>The post-2011 decline reflects a shift toward digital distribution and mobile gaming, underrepresented in retail-sales datasets like this one.</a:t>
            </a:r>
            <a:endParaRPr lang="en-US" sz="1150" dirty="0"/>
          </a:p>
        </p:txBody>
      </p:sp>
      <p:sp>
        <p:nvSpPr>
          <p:cNvPr id="10" name="Text 7"/>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B6B8D"/>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A"/>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F4D6D"/>
                </a:solidFill>
                <a:latin typeface="Calibri" pitchFamily="34" charset="0"/>
                <a:ea typeface="Calibri" pitchFamily="34" charset="-122"/>
                <a:cs typeface="Calibri" pitchFamily="34" charset="-120"/>
              </a:rPr>
              <a:t>QUESTION 2 — GENERATIONAL TRENDS</a:t>
            </a:r>
            <a:endParaRPr lang="en-US" sz="120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1B1B3A"/>
                </a:solidFill>
                <a:latin typeface="Bookman Old Style" pitchFamily="34" charset="0"/>
                <a:ea typeface="Bookman Old Style" pitchFamily="34" charset="-122"/>
                <a:cs typeface="Bookman Old Style" pitchFamily="34" charset="-120"/>
              </a:rPr>
              <a:t>Action &amp; Misc Genres Drove the 7th-Gen Boom</a:t>
            </a:r>
            <a:endParaRPr lang="en-US" sz="3000" dirty="0"/>
          </a:p>
        </p:txBody>
      </p:sp>
      <p:pic>
        <p:nvPicPr>
          <p:cNvPr id="4" name="Image 0" descr="/home/claude/ppt/images/generation_genre_stacked.png">    </p:cNvPr>
          <p:cNvPicPr>
            <a:picLocks noChangeAspect="1"/>
          </p:cNvPicPr>
          <p:nvPr/>
        </p:nvPicPr>
        <p:blipFill>
          <a:blip r:embed="rId1"/>
          <a:stretch>
            <a:fillRect/>
          </a:stretch>
        </p:blipFill>
        <p:spPr>
          <a:xfrm>
            <a:off x="457200" y="1508760"/>
            <a:ext cx="7863840" cy="3913632"/>
          </a:xfrm>
          <a:prstGeom prst="rect">
            <a:avLst/>
          </a:prstGeom>
        </p:spPr>
      </p:pic>
      <p:sp>
        <p:nvSpPr>
          <p:cNvPr id="5" name="Shape 2"/>
          <p:cNvSpPr/>
          <p:nvPr/>
        </p:nvSpPr>
        <p:spPr>
          <a:xfrm>
            <a:off x="457200" y="5532120"/>
            <a:ext cx="7863840" cy="777240"/>
          </a:xfrm>
          <a:prstGeom prst="roundRect">
            <a:avLst>
              <a:gd name="adj" fmla="val 11765"/>
            </a:avLst>
          </a:prstGeom>
          <a:solidFill>
            <a:srgbClr val="2E2E6E"/>
          </a:solidFill>
          <a:ln/>
        </p:spPr>
      </p:sp>
      <p:sp>
        <p:nvSpPr>
          <p:cNvPr id="6" name="Text 3"/>
          <p:cNvSpPr txBox="1"/>
          <p:nvPr/>
        </p:nvSpPr>
        <p:spPr>
          <a:xfrm>
            <a:off x="685800" y="5669280"/>
            <a:ext cx="7406640" cy="502920"/>
          </a:xfrm>
          <a:prstGeom prst="rect">
            <a:avLst/>
          </a:prstGeom>
          <a:noFill/>
          <a:ln/>
        </p:spPr>
        <p:txBody>
          <a:bodyPr wrap="square" lIns="0" tIns="0" rIns="0" bIns="0" rtlCol="0" anchor="ctr"/>
          <a:lstStyle/>
          <a:p>
            <a:pPr indent="0" marL="0">
              <a:buNone/>
            </a:pPr>
            <a:r>
              <a:rPr lang="en-US" sz="1250" b="1" dirty="0">
                <a:solidFill>
                  <a:srgbClr val="FFC145"/>
                </a:solidFill>
                <a:latin typeface="Calibri" pitchFamily="34" charset="0"/>
                <a:ea typeface="Calibri" pitchFamily="34" charset="-122"/>
                <a:cs typeface="Calibri" pitchFamily="34" charset="-120"/>
              </a:rPr>
              <a:t>Note: </a:t>
            </a:r>
            <a:pPr indent="0" marL="0">
              <a:buNone/>
            </a:pPr>
            <a:r>
              <a:rPr lang="en-US" sz="1250" dirty="0">
                <a:solidFill>
                  <a:srgbClr val="F5F5FA"/>
                </a:solidFill>
                <a:latin typeface="Calibri" pitchFamily="34" charset="0"/>
                <a:ea typeface="Calibri" pitchFamily="34" charset="-122"/>
                <a:cs typeface="Calibri" pitchFamily="34" charset="-120"/>
              </a:rPr>
              <a:t>Bar height ≈ total unit sales for that generation across the six leading genres shown.</a:t>
            </a:r>
            <a:endParaRPr lang="en-US" sz="1250" dirty="0"/>
          </a:p>
        </p:txBody>
      </p:sp>
      <p:sp>
        <p:nvSpPr>
          <p:cNvPr id="7" name="Shape 4"/>
          <p:cNvSpPr/>
          <p:nvPr/>
        </p:nvSpPr>
        <p:spPr>
          <a:xfrm>
            <a:off x="8549640" y="1508760"/>
            <a:ext cx="3063240" cy="4800600"/>
          </a:xfrm>
          <a:prstGeom prst="roundRect">
            <a:avLst>
              <a:gd name="adj" fmla="val 3582"/>
            </a:avLst>
          </a:prstGeom>
          <a:solidFill>
            <a:srgbClr val="1B1B3A"/>
          </a:solidFill>
          <a:ln/>
        </p:spPr>
      </p:sp>
      <p:sp>
        <p:nvSpPr>
          <p:cNvPr id="8" name="Text 5"/>
          <p:cNvSpPr txBox="1"/>
          <p:nvPr/>
        </p:nvSpPr>
        <p:spPr>
          <a:xfrm>
            <a:off x="8778240" y="1737360"/>
            <a:ext cx="2651760" cy="365760"/>
          </a:xfrm>
          <a:prstGeom prst="rect">
            <a:avLst/>
          </a:prstGeom>
          <a:noFill/>
          <a:ln/>
        </p:spPr>
        <p:txBody>
          <a:bodyPr wrap="square" lIns="0" tIns="0" rIns="0" bIns="0" rtlCol="0" anchor="ctr"/>
          <a:lstStyle/>
          <a:p>
            <a:pPr indent="0" marL="0">
              <a:buNone/>
            </a:pPr>
            <a:r>
              <a:rPr lang="en-US" sz="1450" b="1" dirty="0">
                <a:solidFill>
                  <a:srgbClr val="FFC145"/>
                </a:solidFill>
                <a:latin typeface="Bookman Old Style" pitchFamily="34" charset="0"/>
                <a:ea typeface="Bookman Old Style" pitchFamily="34" charset="-122"/>
                <a:cs typeface="Bookman Old Style" pitchFamily="34" charset="-120"/>
              </a:rPr>
              <a:t>Key Findings</a:t>
            </a:r>
            <a:endParaRPr lang="en-US" sz="1450" dirty="0"/>
          </a:p>
        </p:txBody>
      </p:sp>
      <p:sp>
        <p:nvSpPr>
          <p:cNvPr id="9" name="Text 6"/>
          <p:cNvSpPr txBox="1"/>
          <p:nvPr/>
        </p:nvSpPr>
        <p:spPr>
          <a:xfrm>
            <a:off x="8778240" y="2148840"/>
            <a:ext cx="2651760" cy="3931920"/>
          </a:xfrm>
          <a:prstGeom prst="rect">
            <a:avLst/>
          </a:prstGeom>
          <a:noFill/>
          <a:ln/>
        </p:spPr>
        <p:txBody>
          <a:bodyPr wrap="square" lIns="0" tIns="0" rIns="0" bIns="0" rtlCol="0" anchor="ctr"/>
          <a:lstStyle/>
          <a:p>
            <a:pPr marL="342900" indent="-342900">
              <a:lnSpc>
                <a:spcPct val="118000"/>
              </a:lnSpc>
              <a:spcAft>
                <a:spcPts val="1000"/>
              </a:spcAft>
              <a:buSzPct val="100000"/>
              <a:buChar char="▪"/>
            </a:pPr>
            <a:r>
              <a:rPr lang="en-US" sz="1080" dirty="0">
                <a:solidFill>
                  <a:srgbClr val="F5F5FA"/>
                </a:solidFill>
                <a:latin typeface="Calibri" pitchFamily="34" charset="0"/>
                <a:ea typeface="Calibri" pitchFamily="34" charset="-122"/>
                <a:cs typeface="Calibri" pitchFamily="34" charset="-120"/>
              </a:rPr>
              <a:t>Gen 7 (2006-2012) dwarfs every other era — over 3,000M units across the top six genres alone.</a:t>
            </a:r>
            <a:endParaRPr lang="en-US" sz="1080" dirty="0"/>
          </a:p>
          <a:p>
            <a:pPr marL="342900" indent="-342900">
              <a:lnSpc>
                <a:spcPct val="118000"/>
              </a:lnSpc>
              <a:spcAft>
                <a:spcPts val="1000"/>
              </a:spcAft>
              <a:buSzPct val="100000"/>
              <a:buChar char="▪"/>
            </a:pPr>
            <a:r>
              <a:rPr lang="en-US" sz="1080" dirty="0">
                <a:solidFill>
                  <a:srgbClr val="F5F5FA"/>
                </a:solidFill>
                <a:latin typeface="Calibri" pitchFamily="34" charset="0"/>
                <a:ea typeface="Calibri" pitchFamily="34" charset="-122"/>
                <a:cs typeface="Calibri" pitchFamily="34" charset="-120"/>
              </a:rPr>
              <a:t>Action's share grows steadily each generation, becoming the dominant genre by Gen 7.</a:t>
            </a:r>
            <a:endParaRPr lang="en-US" sz="1080" dirty="0"/>
          </a:p>
          <a:p>
            <a:pPr marL="342900" indent="-342900">
              <a:lnSpc>
                <a:spcPct val="118000"/>
              </a:lnSpc>
              <a:spcAft>
                <a:spcPts val="1000"/>
              </a:spcAft>
              <a:buSzPct val="100000"/>
              <a:buChar char="▪"/>
            </a:pPr>
            <a:r>
              <a:rPr lang="en-US" sz="1080" dirty="0">
                <a:solidFill>
                  <a:srgbClr val="F5F5FA"/>
                </a:solidFill>
                <a:latin typeface="Calibri" pitchFamily="34" charset="0"/>
                <a:ea typeface="Calibri" pitchFamily="34" charset="-122"/>
                <a:cs typeface="Calibri" pitchFamily="34" charset="-120"/>
              </a:rPr>
              <a:t>Misc games surge specifically in Gen 7, likely reflecting the Wii-era casual gaming boom.</a:t>
            </a:r>
            <a:endParaRPr lang="en-US" sz="1080" dirty="0"/>
          </a:p>
          <a:p>
            <a:pPr marL="342900" indent="-342900">
              <a:lnSpc>
                <a:spcPct val="118000"/>
              </a:lnSpc>
              <a:spcAft>
                <a:spcPts val="1000"/>
              </a:spcAft>
              <a:buSzPct val="100000"/>
              <a:buChar char="▪"/>
            </a:pPr>
            <a:r>
              <a:rPr lang="en-US" sz="1080" dirty="0">
                <a:solidFill>
                  <a:srgbClr val="F5F5FA"/>
                </a:solidFill>
                <a:latin typeface="Calibri" pitchFamily="34" charset="0"/>
                <a:ea typeface="Calibri" pitchFamily="34" charset="-122"/>
                <a:cs typeface="Calibri" pitchFamily="34" charset="-120"/>
              </a:rPr>
              <a:t>PC sales stay a small, steady slice across all eras in this physical-sales-oriented dataset.</a:t>
            </a:r>
            <a:endParaRPr lang="en-US" sz="1080" dirty="0"/>
          </a:p>
        </p:txBody>
      </p:sp>
      <p:sp>
        <p:nvSpPr>
          <p:cNvPr id="10" name="Text 7"/>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B6B8D"/>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A"/>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F4D6D"/>
                </a:solidFill>
                <a:latin typeface="Calibri" pitchFamily="34" charset="0"/>
                <a:ea typeface="Calibri" pitchFamily="34" charset="-122"/>
                <a:cs typeface="Calibri" pitchFamily="34" charset="-120"/>
              </a:rPr>
              <a:t>QUESTION 3 — CRITICAL RECEPTION</a:t>
            </a:r>
            <a:endParaRPr lang="en-US" sz="120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1B1B3A"/>
                </a:solidFill>
                <a:latin typeface="Bookman Old Style" pitchFamily="34" charset="0"/>
                <a:ea typeface="Bookman Old Style" pitchFamily="34" charset="-122"/>
                <a:cs typeface="Bookman Old Style" pitchFamily="34" charset="-120"/>
              </a:rPr>
              <a:t>Critic Scores Are Only a Weak Predictor of Sales</a:t>
            </a:r>
            <a:endParaRPr lang="en-US" sz="3000" dirty="0"/>
          </a:p>
        </p:txBody>
      </p:sp>
      <p:pic>
        <p:nvPicPr>
          <p:cNvPr id="4" name="Image 0" descr="/home/claude/ppt/images/critic_score_scatter.png">    </p:cNvPr>
          <p:cNvPicPr>
            <a:picLocks noChangeAspect="1"/>
          </p:cNvPicPr>
          <p:nvPr/>
        </p:nvPicPr>
        <p:blipFill>
          <a:blip r:embed="rId1"/>
          <a:stretch>
            <a:fillRect/>
          </a:stretch>
        </p:blipFill>
        <p:spPr>
          <a:xfrm>
            <a:off x="548640" y="1508760"/>
            <a:ext cx="7589520" cy="4507992"/>
          </a:xfrm>
          <a:prstGeom prst="rect">
            <a:avLst/>
          </a:prstGeom>
        </p:spPr>
      </p:pic>
      <p:sp>
        <p:nvSpPr>
          <p:cNvPr id="5" name="Shape 2"/>
          <p:cNvSpPr/>
          <p:nvPr/>
        </p:nvSpPr>
        <p:spPr>
          <a:xfrm>
            <a:off x="8366760" y="1508760"/>
            <a:ext cx="3246120" cy="4507992"/>
          </a:xfrm>
          <a:prstGeom prst="roundRect">
            <a:avLst>
              <a:gd name="adj" fmla="val 3380"/>
            </a:avLst>
          </a:prstGeom>
          <a:solidFill>
            <a:srgbClr val="1B1B3A"/>
          </a:solidFill>
          <a:ln/>
        </p:spPr>
      </p:sp>
      <p:sp>
        <p:nvSpPr>
          <p:cNvPr id="6" name="Text 3"/>
          <p:cNvSpPr txBox="1"/>
          <p:nvPr/>
        </p:nvSpPr>
        <p:spPr>
          <a:xfrm>
            <a:off x="8641080" y="1737360"/>
            <a:ext cx="2743200" cy="365760"/>
          </a:xfrm>
          <a:prstGeom prst="rect">
            <a:avLst/>
          </a:prstGeom>
          <a:noFill/>
          <a:ln/>
        </p:spPr>
        <p:txBody>
          <a:bodyPr wrap="square" lIns="0" tIns="0" rIns="0" bIns="0" rtlCol="0" anchor="ctr"/>
          <a:lstStyle/>
          <a:p>
            <a:pPr indent="0" marL="0">
              <a:buNone/>
            </a:pPr>
            <a:r>
              <a:rPr lang="en-US" sz="1500" b="1" dirty="0">
                <a:solidFill>
                  <a:srgbClr val="FFC145"/>
                </a:solidFill>
                <a:latin typeface="Bookman Old Style" pitchFamily="34" charset="0"/>
                <a:ea typeface="Bookman Old Style" pitchFamily="34" charset="-122"/>
                <a:cs typeface="Bookman Old Style" pitchFamily="34" charset="-120"/>
              </a:rPr>
              <a:t>Key Findings</a:t>
            </a:r>
            <a:endParaRPr lang="en-US" sz="1500" dirty="0"/>
          </a:p>
        </p:txBody>
      </p:sp>
      <p:sp>
        <p:nvSpPr>
          <p:cNvPr id="7" name="Text 4"/>
          <p:cNvSpPr txBox="1"/>
          <p:nvPr/>
        </p:nvSpPr>
        <p:spPr>
          <a:xfrm>
            <a:off x="8641080" y="2148840"/>
            <a:ext cx="2743200" cy="374904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100" dirty="0">
                <a:solidFill>
                  <a:srgbClr val="F5F5FA"/>
                </a:solidFill>
                <a:latin typeface="Calibri" pitchFamily="34" charset="0"/>
                <a:ea typeface="Calibri" pitchFamily="34" charset="-122"/>
                <a:cs typeface="Calibri" pitchFamily="34" charset="-120"/>
              </a:rPr>
              <a:t>Correlation is weak: r = 0.25 between Critic_Score and Global_Sales.</a:t>
            </a:r>
            <a:endParaRPr lang="en-US" sz="1100" dirty="0"/>
          </a:p>
          <a:p>
            <a:pPr marL="342900" indent="-342900">
              <a:lnSpc>
                <a:spcPct val="120000"/>
              </a:lnSpc>
              <a:spcAft>
                <a:spcPts val="1200"/>
              </a:spcAft>
              <a:buSzPct val="100000"/>
              <a:buChar char="▪"/>
            </a:pPr>
            <a:r>
              <a:rPr lang="en-US" sz="1100" dirty="0">
                <a:solidFill>
                  <a:srgbClr val="F5F5FA"/>
                </a:solidFill>
                <a:latin typeface="Calibri" pitchFamily="34" charset="0"/>
                <a:ea typeface="Calibri" pitchFamily="34" charset="-122"/>
                <a:cs typeface="Calibri" pitchFamily="34" charset="-120"/>
              </a:rPr>
              <a:t>Most games cluster near zero sales regardless of score — a high score does not guarantee commercial success.</a:t>
            </a:r>
            <a:endParaRPr lang="en-US" sz="1100" dirty="0"/>
          </a:p>
          <a:p>
            <a:pPr marL="342900" indent="-342900">
              <a:lnSpc>
                <a:spcPct val="120000"/>
              </a:lnSpc>
              <a:spcAft>
                <a:spcPts val="1200"/>
              </a:spcAft>
              <a:buSzPct val="100000"/>
              <a:buChar char="▪"/>
            </a:pPr>
            <a:r>
              <a:rPr lang="en-US" sz="1100" dirty="0">
                <a:solidFill>
                  <a:srgbClr val="F5F5FA"/>
                </a:solidFill>
                <a:latin typeface="Calibri" pitchFamily="34" charset="0"/>
                <a:ea typeface="Calibri" pitchFamily="34" charset="-122"/>
                <a:cs typeface="Calibri" pitchFamily="34" charset="-120"/>
              </a:rPr>
              <a:t>The single biggest outlier (~82M units at a ~76 score) likely reflects a pack-in or franchise blockbuster, not review-driven demand.</a:t>
            </a:r>
            <a:endParaRPr lang="en-US" sz="1100" dirty="0"/>
          </a:p>
          <a:p>
            <a:pPr marL="342900" indent="-342900">
              <a:lnSpc>
                <a:spcPct val="120000"/>
              </a:lnSpc>
              <a:spcAft>
                <a:spcPts val="1200"/>
              </a:spcAft>
              <a:buSzPct val="100000"/>
              <a:buChar char="▪"/>
            </a:pPr>
            <a:r>
              <a:rPr lang="en-US" sz="1100" dirty="0">
                <a:solidFill>
                  <a:srgbClr val="F5F5FA"/>
                </a:solidFill>
                <a:latin typeface="Calibri" pitchFamily="34" charset="0"/>
                <a:ea typeface="Calibri" pitchFamily="34" charset="-122"/>
                <a:cs typeface="Calibri" pitchFamily="34" charset="-120"/>
              </a:rPr>
              <a:t>Confirms that non-review factors — franchise strength, marketing, platform reach — matter more than critical reception alone.</a:t>
            </a:r>
            <a:endParaRPr lang="en-US" sz="1100" dirty="0"/>
          </a:p>
        </p:txBody>
      </p:sp>
      <p:sp>
        <p:nvSpPr>
          <p:cNvPr id="8" name="Text 5"/>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B6B8D"/>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A"/>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F4D6D"/>
                </a:solidFill>
                <a:latin typeface="Calibri" pitchFamily="34" charset="0"/>
                <a:ea typeface="Calibri" pitchFamily="34" charset="-122"/>
                <a:cs typeface="Calibri" pitchFamily="34" charset="-120"/>
              </a:rPr>
              <a:t>QUESTION 4 — PUBLISHER CONSISTENCY</a:t>
            </a:r>
            <a:endParaRPr lang="en-US" sz="120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1B1B3A"/>
                </a:solidFill>
                <a:latin typeface="Bookman Old Style" pitchFamily="34" charset="0"/>
                <a:ea typeface="Bookman Old Style" pitchFamily="34" charset="-122"/>
                <a:cs typeface="Bookman Old Style" pitchFamily="34" charset="-120"/>
              </a:rPr>
              <a:t>Nintendo Leads on Volume-Adjusted Consistency</a:t>
            </a:r>
            <a:endParaRPr lang="en-US" sz="3000" dirty="0"/>
          </a:p>
        </p:txBody>
      </p:sp>
      <p:pic>
        <p:nvPicPr>
          <p:cNvPr id="4" name="Image 0" descr="/home/claude/ppt/images/publisher_hit_rate.png">    </p:cNvPr>
          <p:cNvPicPr>
            <a:picLocks noChangeAspect="1"/>
          </p:cNvPicPr>
          <p:nvPr/>
        </p:nvPicPr>
        <p:blipFill>
          <a:blip r:embed="rId1"/>
          <a:stretch>
            <a:fillRect/>
          </a:stretch>
        </p:blipFill>
        <p:spPr>
          <a:xfrm>
            <a:off x="457200" y="1508760"/>
            <a:ext cx="7772400" cy="5422392"/>
          </a:xfrm>
          <a:prstGeom prst="rect">
            <a:avLst/>
          </a:prstGeom>
        </p:spPr>
      </p:pic>
      <p:sp>
        <p:nvSpPr>
          <p:cNvPr id="5" name="Shape 2"/>
          <p:cNvSpPr/>
          <p:nvPr/>
        </p:nvSpPr>
        <p:spPr>
          <a:xfrm>
            <a:off x="8366760" y="1508760"/>
            <a:ext cx="3246120" cy="5422392"/>
          </a:xfrm>
          <a:prstGeom prst="roundRect">
            <a:avLst>
              <a:gd name="adj" fmla="val 3380"/>
            </a:avLst>
          </a:prstGeom>
          <a:solidFill>
            <a:srgbClr val="2E2E6E"/>
          </a:solidFill>
          <a:ln/>
        </p:spPr>
      </p:sp>
      <p:sp>
        <p:nvSpPr>
          <p:cNvPr id="6" name="Text 3"/>
          <p:cNvSpPr txBox="1"/>
          <p:nvPr/>
        </p:nvSpPr>
        <p:spPr>
          <a:xfrm>
            <a:off x="8641080" y="1737360"/>
            <a:ext cx="2743200" cy="365760"/>
          </a:xfrm>
          <a:prstGeom prst="rect">
            <a:avLst/>
          </a:prstGeom>
          <a:noFill/>
          <a:ln/>
        </p:spPr>
        <p:txBody>
          <a:bodyPr wrap="square" lIns="0" tIns="0" rIns="0" bIns="0" rtlCol="0" anchor="ctr"/>
          <a:lstStyle/>
          <a:p>
            <a:pPr indent="0" marL="0">
              <a:buNone/>
            </a:pPr>
            <a:r>
              <a:rPr lang="en-US" sz="1500" b="1" dirty="0">
                <a:solidFill>
                  <a:srgbClr val="FFC145"/>
                </a:solidFill>
                <a:latin typeface="Bookman Old Style" pitchFamily="34" charset="0"/>
                <a:ea typeface="Bookman Old Style" pitchFamily="34" charset="-122"/>
                <a:cs typeface="Bookman Old Style" pitchFamily="34" charset="-120"/>
              </a:rPr>
              <a:t>Key Findings</a:t>
            </a:r>
            <a:endParaRPr lang="en-US" sz="1500" dirty="0"/>
          </a:p>
        </p:txBody>
      </p:sp>
      <p:sp>
        <p:nvSpPr>
          <p:cNvPr id="7" name="Text 4"/>
          <p:cNvSpPr txBox="1"/>
          <p:nvPr/>
        </p:nvSpPr>
        <p:spPr>
          <a:xfrm>
            <a:off x="8641080" y="2148840"/>
            <a:ext cx="2743200" cy="466344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100" dirty="0">
                <a:solidFill>
                  <a:srgbClr val="F5F5FA"/>
                </a:solidFill>
                <a:latin typeface="Calibri" pitchFamily="34" charset="0"/>
                <a:ea typeface="Calibri" pitchFamily="34" charset="-122"/>
                <a:cs typeface="Calibri" pitchFamily="34" charset="-120"/>
              </a:rPr>
              <a:t>Nintendo stands out: ~700 releases with a 0.65 hit rate — high volume AND high consistency.</a:t>
            </a:r>
            <a:endParaRPr lang="en-US" sz="1100" dirty="0"/>
          </a:p>
          <a:p>
            <a:pPr marL="342900" indent="-342900">
              <a:lnSpc>
                <a:spcPct val="120000"/>
              </a:lnSpc>
              <a:spcAft>
                <a:spcPts val="1200"/>
              </a:spcAft>
              <a:buSzPct val="100000"/>
              <a:buChar char="▪"/>
            </a:pPr>
            <a:r>
              <a:rPr lang="en-US" sz="1100" dirty="0">
                <a:solidFill>
                  <a:srgbClr val="F5F5FA"/>
                </a:solidFill>
                <a:latin typeface="Calibri" pitchFamily="34" charset="0"/>
                <a:ea typeface="Calibri" pitchFamily="34" charset="-122"/>
                <a:cs typeface="Calibri" pitchFamily="34" charset="-120"/>
              </a:rPr>
              <a:t>Electronic Arts has the largest catalog (~1,340 releases) with a solid 0.51 hit rate, showing scale without sacrificing much consistency.</a:t>
            </a:r>
            <a:endParaRPr lang="en-US" sz="1100" dirty="0"/>
          </a:p>
          <a:p>
            <a:pPr marL="342900" indent="-342900">
              <a:lnSpc>
                <a:spcPct val="120000"/>
              </a:lnSpc>
              <a:spcAft>
                <a:spcPts val="1200"/>
              </a:spcAft>
              <a:buSzPct val="100000"/>
              <a:buChar char="▪"/>
            </a:pPr>
            <a:r>
              <a:rPr lang="en-US" sz="1100" dirty="0">
                <a:solidFill>
                  <a:srgbClr val="F5F5FA"/>
                </a:solidFill>
                <a:latin typeface="Calibri" pitchFamily="34" charset="0"/>
                <a:ea typeface="Calibri" pitchFamily="34" charset="-122"/>
                <a:cs typeface="Calibri" pitchFamily="34" charset="-120"/>
              </a:rPr>
              <a:t>Sony Computer Entertainment Europe and SquareSoft show even higher hit rates (~0.65-0.67), but on very few releases (~10-20) — likely small-sample effects.</a:t>
            </a:r>
            <a:endParaRPr lang="en-US" sz="1100" dirty="0"/>
          </a:p>
          <a:p>
            <a:pPr marL="342900" indent="-342900">
              <a:lnSpc>
                <a:spcPct val="120000"/>
              </a:lnSpc>
              <a:spcAft>
                <a:spcPts val="1200"/>
              </a:spcAft>
              <a:buSzPct val="100000"/>
              <a:buChar char="▪"/>
            </a:pPr>
            <a:r>
              <a:rPr lang="en-US" sz="1100" dirty="0">
                <a:solidFill>
                  <a:srgbClr val="F5F5FA"/>
                </a:solidFill>
                <a:latin typeface="Calibri" pitchFamily="34" charset="0"/>
                <a:ea typeface="Calibri" pitchFamily="34" charset="-122"/>
                <a:cs typeface="Calibri" pitchFamily="34" charset="-120"/>
              </a:rPr>
              <a:t>Most publishers cluster below a 0.2 hit rate regardless of volume, showing genuine hits are rare industry-wide.</a:t>
            </a:r>
            <a:endParaRPr lang="en-US" sz="1100" dirty="0"/>
          </a:p>
        </p:txBody>
      </p:sp>
      <p:sp>
        <p:nvSpPr>
          <p:cNvPr id="8" name="Text 5"/>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B6B8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B3A"/>
        </a:solidFill>
      </p:bgPr>
    </p:bg>
    <p:spTree>
      <p:nvGrpSpPr>
        <p:cNvPr id="1" name=""/>
        <p:cNvGrpSpPr/>
        <p:nvPr/>
      </p:nvGrpSpPr>
      <p:grpSpPr>
        <a:xfrm>
          <a:off x="0" y="0"/>
          <a:ext cx="0" cy="0"/>
          <a:chOff x="0" y="0"/>
          <a:chExt cx="0" cy="0"/>
        </a:xfrm>
      </p:grpSpPr>
      <p:sp>
        <p:nvSpPr>
          <p:cNvPr id="2" name="Shape 0"/>
          <p:cNvSpPr/>
          <p:nvPr/>
        </p:nvSpPr>
        <p:spPr>
          <a:xfrm>
            <a:off x="-1371600" y="4389120"/>
            <a:ext cx="4114800" cy="4114800"/>
          </a:xfrm>
          <a:prstGeom prst="ellipse">
            <a:avLst/>
          </a:prstGeom>
          <a:solidFill>
            <a:srgbClr val="2E2E6E"/>
          </a:solidFill>
          <a:ln/>
        </p:spPr>
      </p:sp>
      <p:sp>
        <p:nvSpPr>
          <p:cNvPr id="3" name="Text 1"/>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WRAP-UP</a:t>
            </a:r>
            <a:endParaRPr lang="en-US" sz="1200" dirty="0"/>
          </a:p>
        </p:txBody>
      </p:sp>
      <p:sp>
        <p:nvSpPr>
          <p:cNvPr id="4" name="Text 2"/>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3000" b="1" dirty="0">
                <a:solidFill>
                  <a:srgbClr val="F5F5FA"/>
                </a:solidFill>
                <a:latin typeface="Bookman Old Style" pitchFamily="34" charset="0"/>
                <a:ea typeface="Bookman Old Style" pitchFamily="34" charset="-122"/>
                <a:cs typeface="Bookman Old Style" pitchFamily="34" charset="-120"/>
              </a:rPr>
              <a:t>Conclusions &amp; Next Steps</a:t>
            </a:r>
            <a:endParaRPr lang="en-US" sz="3000" dirty="0"/>
          </a:p>
        </p:txBody>
      </p:sp>
      <p:sp>
        <p:nvSpPr>
          <p:cNvPr id="5" name="Text 3"/>
          <p:cNvSpPr txBox="1"/>
          <p:nvPr/>
        </p:nvSpPr>
        <p:spPr>
          <a:xfrm>
            <a:off x="640080" y="1737360"/>
            <a:ext cx="7315200" cy="4206240"/>
          </a:xfrm>
          <a:prstGeom prst="rect">
            <a:avLst/>
          </a:prstGeom>
          <a:noFill/>
          <a:ln/>
        </p:spPr>
        <p:txBody>
          <a:bodyPr wrap="square" lIns="0" tIns="0" rIns="0" bIns="0" rtlCol="0" anchor="ctr"/>
          <a:lstStyle/>
          <a:p>
            <a:pPr marL="342900" indent="-342900">
              <a:lnSpc>
                <a:spcPct val="130000"/>
              </a:lnSpc>
              <a:spcAft>
                <a:spcPts val="1800"/>
              </a:spcAft>
              <a:buSzPct val="100000"/>
              <a:buChar char="▪"/>
            </a:pPr>
            <a:r>
              <a:rPr lang="en-US" sz="1550" dirty="0">
                <a:solidFill>
                  <a:srgbClr val="F5F5FA"/>
                </a:solidFill>
                <a:latin typeface="Calibri" pitchFamily="34" charset="0"/>
                <a:ea typeface="Calibri" pitchFamily="34" charset="-122"/>
                <a:cs typeface="Calibri" pitchFamily="34" charset="-120"/>
              </a:rPr>
              <a:t>Regional taste is a real, measurable divide — Japan skews toward RPGs and native handhelds; NA/EU favor Action and Shooters.</a:t>
            </a:r>
            <a:endParaRPr lang="en-US" sz="1550" dirty="0"/>
          </a:p>
          <a:p>
            <a:pPr marL="342900" indent="-342900">
              <a:lnSpc>
                <a:spcPct val="130000"/>
              </a:lnSpc>
              <a:spcAft>
                <a:spcPts val="1800"/>
              </a:spcAft>
              <a:buSzPct val="100000"/>
              <a:buChar char="▪"/>
            </a:pPr>
            <a:r>
              <a:rPr lang="en-US" sz="1550" dirty="0">
                <a:solidFill>
                  <a:srgbClr val="F5F5FA"/>
                </a:solidFill>
                <a:latin typeface="Calibri" pitchFamily="34" charset="0"/>
                <a:ea typeface="Calibri" pitchFamily="34" charset="-122"/>
                <a:cs typeface="Calibri" pitchFamily="34" charset="-120"/>
              </a:rPr>
              <a:t>The industry's commercial center of gravity (7th generation, 2006-2012) has already passed in physical-sales terms; digital-era trends need a different data source to confirm.</a:t>
            </a:r>
            <a:endParaRPr lang="en-US" sz="1550" dirty="0"/>
          </a:p>
          <a:p>
            <a:pPr marL="342900" indent="-342900">
              <a:lnSpc>
                <a:spcPct val="130000"/>
              </a:lnSpc>
              <a:spcAft>
                <a:spcPts val="1800"/>
              </a:spcAft>
              <a:buSzPct val="100000"/>
              <a:buChar char="▪"/>
            </a:pPr>
            <a:r>
              <a:rPr lang="en-US" sz="1550" dirty="0">
                <a:solidFill>
                  <a:srgbClr val="F5F5FA"/>
                </a:solidFill>
                <a:latin typeface="Calibri" pitchFamily="34" charset="0"/>
                <a:ea typeface="Calibri" pitchFamily="34" charset="-122"/>
                <a:cs typeface="Calibri" pitchFamily="34" charset="-120"/>
              </a:rPr>
              <a:t>Critic scores are a weak predictor of sales (r = 0.25) — franchise strength and marketing matter more than review quality.</a:t>
            </a:r>
            <a:endParaRPr lang="en-US" sz="1550" dirty="0"/>
          </a:p>
          <a:p>
            <a:pPr marL="342900" indent="-342900">
              <a:lnSpc>
                <a:spcPct val="130000"/>
              </a:lnSpc>
              <a:spcAft>
                <a:spcPts val="1800"/>
              </a:spcAft>
              <a:buSzPct val="100000"/>
              <a:buChar char="▪"/>
            </a:pPr>
            <a:r>
              <a:rPr lang="en-US" sz="1550" dirty="0">
                <a:solidFill>
                  <a:srgbClr val="F5F5FA"/>
                </a:solidFill>
                <a:latin typeface="Calibri" pitchFamily="34" charset="0"/>
                <a:ea typeface="Calibri" pitchFamily="34" charset="-122"/>
                <a:cs typeface="Calibri" pitchFamily="34" charset="-120"/>
              </a:rPr>
              <a:t>Nintendo combines high release volume with a 0.65 hit rate — the strongest evidence of genuine, repeatable publisher success in the dataset.</a:t>
            </a:r>
            <a:endParaRPr lang="en-US" sz="1550" dirty="0"/>
          </a:p>
        </p:txBody>
      </p:sp>
      <p:sp>
        <p:nvSpPr>
          <p:cNvPr id="6" name="Shape 4"/>
          <p:cNvSpPr/>
          <p:nvPr/>
        </p:nvSpPr>
        <p:spPr>
          <a:xfrm>
            <a:off x="8275320" y="1737360"/>
            <a:ext cx="3337560" cy="4206240"/>
          </a:xfrm>
          <a:prstGeom prst="roundRect">
            <a:avLst>
              <a:gd name="adj" fmla="val 3288"/>
            </a:avLst>
          </a:prstGeom>
          <a:solidFill>
            <a:srgbClr val="6C5CE7">
              <a:alpha val="85000"/>
            </a:srgbClr>
          </a:solidFill>
          <a:ln/>
        </p:spPr>
      </p:sp>
      <p:sp>
        <p:nvSpPr>
          <p:cNvPr id="7" name="Text 5"/>
          <p:cNvSpPr txBox="1"/>
          <p:nvPr/>
        </p:nvSpPr>
        <p:spPr>
          <a:xfrm>
            <a:off x="8549640" y="1965960"/>
            <a:ext cx="2834640" cy="365760"/>
          </a:xfrm>
          <a:prstGeom prst="rect">
            <a:avLst/>
          </a:prstGeom>
          <a:noFill/>
          <a:ln/>
        </p:spPr>
        <p:txBody>
          <a:bodyPr wrap="square" lIns="0" tIns="0" rIns="0" bIns="0" rtlCol="0" anchor="ctr"/>
          <a:lstStyle/>
          <a:p>
            <a:pPr indent="0" marL="0">
              <a:buNone/>
            </a:pPr>
            <a:r>
              <a:rPr lang="en-US" sz="1500" b="1" dirty="0">
                <a:solidFill>
                  <a:srgbClr val="FFC145"/>
                </a:solidFill>
                <a:latin typeface="Bookman Old Style" pitchFamily="34" charset="0"/>
                <a:ea typeface="Bookman Old Style" pitchFamily="34" charset="-122"/>
                <a:cs typeface="Bookman Old Style" pitchFamily="34" charset="-120"/>
              </a:rPr>
              <a:t>Repository</a:t>
            </a:r>
            <a:endParaRPr lang="en-US" sz="1500" dirty="0"/>
          </a:p>
        </p:txBody>
      </p:sp>
      <p:sp>
        <p:nvSpPr>
          <p:cNvPr id="8" name="Text 6"/>
          <p:cNvSpPr txBox="1"/>
          <p:nvPr/>
        </p:nvSpPr>
        <p:spPr>
          <a:xfrm>
            <a:off x="8549640" y="2423160"/>
            <a:ext cx="2834640" cy="822960"/>
          </a:xfrm>
          <a:prstGeom prst="rect">
            <a:avLst/>
          </a:prstGeom>
          <a:noFill/>
          <a:ln/>
        </p:spPr>
        <p:txBody>
          <a:bodyPr wrap="square" lIns="0" tIns="0" rIns="0" bIns="0" rtlCol="0" anchor="ctr"/>
          <a:lstStyle/>
          <a:p>
            <a:pPr indent="0" marL="0">
              <a:lnSpc>
                <a:spcPct val="130000"/>
              </a:lnSpc>
              <a:buNone/>
            </a:pPr>
            <a:r>
              <a:rPr lang="en-US" sz="1150" dirty="0">
                <a:solidFill>
                  <a:srgbClr val="F5F5FA"/>
                </a:solidFill>
                <a:latin typeface="Calibri" pitchFamily="34" charset="0"/>
                <a:ea typeface="Calibri" pitchFamily="34" charset="-122"/>
                <a:cs typeface="Calibri" pitchFamily="34" charset="-120"/>
              </a:rPr>
              <a:t>github.com/PrashanthPinniboyina/</a:t>
            </a:r>
            <a:endParaRPr lang="en-US" sz="1150" dirty="0"/>
          </a:p>
          <a:p>
            <a:pPr indent="0" marL="0">
              <a:lnSpc>
                <a:spcPct val="130000"/>
              </a:lnSpc>
              <a:buNone/>
            </a:pPr>
            <a:r>
              <a:rPr lang="en-US" sz="1150" dirty="0">
                <a:solidFill>
                  <a:srgbClr val="F5F5FA"/>
                </a:solidFill>
                <a:latin typeface="Calibri" pitchFamily="34" charset="0"/>
                <a:ea typeface="Calibri" pitchFamily="34" charset="-122"/>
                <a:cs typeface="Calibri" pitchFamily="34" charset="-120"/>
              </a:rPr>
              <a:t>49834918_DS-120B</a:t>
            </a:r>
            <a:endParaRPr lang="en-US" sz="1150" dirty="0"/>
          </a:p>
        </p:txBody>
      </p:sp>
      <p:sp>
        <p:nvSpPr>
          <p:cNvPr id="9" name="Text 7"/>
          <p:cNvSpPr txBox="1"/>
          <p:nvPr/>
        </p:nvSpPr>
        <p:spPr>
          <a:xfrm>
            <a:off x="8549640" y="4480560"/>
            <a:ext cx="2834640" cy="320040"/>
          </a:xfrm>
          <a:prstGeom prst="rect">
            <a:avLst/>
          </a:prstGeom>
          <a:noFill/>
          <a:ln/>
        </p:spPr>
        <p:txBody>
          <a:bodyPr wrap="square" lIns="0" tIns="0" rIns="0" bIns="0" rtlCol="0" anchor="ctr"/>
          <a:lstStyle/>
          <a:p>
            <a:pPr indent="0" marL="0">
              <a:buNone/>
            </a:pPr>
            <a:r>
              <a:rPr lang="en-US" sz="1300" b="1" dirty="0">
                <a:solidFill>
                  <a:srgbClr val="FFC145"/>
                </a:solidFill>
                <a:latin typeface="Bookman Old Style" pitchFamily="34" charset="0"/>
                <a:ea typeface="Bookman Old Style" pitchFamily="34" charset="-122"/>
                <a:cs typeface="Bookman Old Style" pitchFamily="34" charset="-120"/>
              </a:rPr>
              <a:t>Prepared by</a:t>
            </a:r>
            <a:endParaRPr lang="en-US" sz="1300" dirty="0"/>
          </a:p>
        </p:txBody>
      </p:sp>
      <p:sp>
        <p:nvSpPr>
          <p:cNvPr id="10" name="Text 8"/>
          <p:cNvSpPr txBox="1"/>
          <p:nvPr/>
        </p:nvSpPr>
        <p:spPr>
          <a:xfrm>
            <a:off x="8549640" y="4846320"/>
            <a:ext cx="2834640" cy="731520"/>
          </a:xfrm>
          <a:prstGeom prst="rect">
            <a:avLst/>
          </a:prstGeom>
          <a:noFill/>
          <a:ln/>
        </p:spPr>
        <p:txBody>
          <a:bodyPr wrap="square" lIns="0" tIns="0" rIns="0" bIns="0" rtlCol="0" anchor="ctr"/>
          <a:lstStyle/>
          <a:p>
            <a:pPr indent="0" marL="0">
              <a:lnSpc>
                <a:spcPct val="130000"/>
              </a:lnSpc>
              <a:buNone/>
            </a:pPr>
            <a:r>
              <a:rPr lang="en-US" sz="1250" dirty="0">
                <a:solidFill>
                  <a:srgbClr val="F5F5FA"/>
                </a:solidFill>
                <a:latin typeface="Calibri" pitchFamily="34" charset="0"/>
                <a:ea typeface="Calibri" pitchFamily="34" charset="-122"/>
                <a:cs typeface="Calibri" pitchFamily="34" charset="-120"/>
              </a:rPr>
              <a:t>Prashanth Pinniboyina</a:t>
            </a:r>
            <a:endParaRPr lang="en-US" sz="1250" dirty="0"/>
          </a:p>
          <a:p>
            <a:pPr indent="0" marL="0">
              <a:lnSpc>
                <a:spcPct val="130000"/>
              </a:lnSpc>
              <a:buNone/>
            </a:pPr>
            <a:r>
              <a:rPr lang="en-US" sz="1250" dirty="0">
                <a:solidFill>
                  <a:srgbClr val="F5F5FA"/>
                </a:solidFill>
                <a:latin typeface="Calibri" pitchFamily="34" charset="0"/>
                <a:ea typeface="Calibri" pitchFamily="34" charset="-122"/>
                <a:cs typeface="Calibri" pitchFamily="34" charset="-120"/>
              </a:rPr>
              <a:t>ID: 49834918</a:t>
            </a:r>
            <a:endParaRPr lang="en-US" sz="1250" dirty="0"/>
          </a:p>
        </p:txBody>
      </p:sp>
      <p:sp>
        <p:nvSpPr>
          <p:cNvPr id="11" name="Text 9"/>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9A9AC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2026-09-13T16:12:49Z</dcterms:created>
  <dcterms:modified xsi:type="dcterms:W3CDTF">2026-09-13T16:12:49Z</dcterms:modified>
</cp:coreProperties>
</file>